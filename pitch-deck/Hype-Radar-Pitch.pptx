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91dec101ff47fc" /><Relationship Type="http://schemas.openxmlformats.org/officeDocument/2006/relationships/extended-properties" Target="/docProps/app.xml" Id="Rce5d0aaba6c84ef3" /><Relationship Type="http://schemas.openxmlformats.org/officeDocument/2006/relationships/officeDocument" Target="/ppt/presentation.xml" Id="R1e21c6ba91834f62" /></Relationships>
</file>

<file path=ppt/presentation.xml><?xml version="1.0" encoding="utf-8"?>
<p:presentation xmlns:p="http://schemas.openxmlformats.org/presentationml/2006/main">
  <p:sldMasterIdLst>
    <p:sldMasterId xmlns:r="http://schemas.openxmlformats.org/officeDocument/2006/relationships" id="2147483648" r:id="R2a65079f497e4a2a"/>
  </p:sldMasterIdLst>
  <p:notesMasterIdLst>
    <p:notesMasterId xmlns:r="http://schemas.openxmlformats.org/officeDocument/2006/relationships" r:id="R49a5f6abe5af46de"/>
  </p:notesMasterIdLst>
  <p:sldIdLst>
    <p:sldId xmlns:r="http://schemas.openxmlformats.org/officeDocument/2006/relationships" id="256" r:id="R9976594e71e84376"/>
    <p:sldId xmlns:r="http://schemas.openxmlformats.org/officeDocument/2006/relationships" id="257" r:id="R57c3af24615b4994"/>
    <p:sldId xmlns:r="http://schemas.openxmlformats.org/officeDocument/2006/relationships" id="258" r:id="R7639ef653d91470d"/>
    <p:sldId xmlns:r="http://schemas.openxmlformats.org/officeDocument/2006/relationships" id="259" r:id="R3a7365b1e69e4d6c"/>
    <p:sldId xmlns:r="http://schemas.openxmlformats.org/officeDocument/2006/relationships" id="260" r:id="R288b495ea0fb4ba4"/>
    <p:sldId xmlns:r="http://schemas.openxmlformats.org/officeDocument/2006/relationships" id="261" r:id="R1a8b9a7747b7411d"/>
    <p:sldId xmlns:r="http://schemas.openxmlformats.org/officeDocument/2006/relationships" id="262" r:id="R05d3e199844f4b30"/>
    <p:sldId xmlns:r="http://schemas.openxmlformats.org/officeDocument/2006/relationships" id="263" r:id="Rd2d253a58a254ba3"/>
    <p:sldId xmlns:r="http://schemas.openxmlformats.org/officeDocument/2006/relationships" id="264" r:id="R6bc60b8d433348e7"/>
    <p:sldId xmlns:r="http://schemas.openxmlformats.org/officeDocument/2006/relationships" id="265" r:id="Rcd6fa526891847f7"/>
    <p:sldId xmlns:r="http://schemas.openxmlformats.org/officeDocument/2006/relationships" id="266" r:id="R3e5e5a0858984804"/>
    <p:sldId xmlns:r="http://schemas.openxmlformats.org/officeDocument/2006/relationships" id="267" r:id="Rf88d7da6c6ea47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7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3175" cap="flat">
              <a:solidFill>
                <a:srgbClr val="D6D6D6"/>
              </a:solidFill>
              <a:prstDash val="solid"/>
              <a:miter lim="400000"/>
            </a:ln>
          </a:left>
          <a:right>
            <a:ln w="3175" cap="flat">
              <a:solidFill>
                <a:srgbClr val="D6D7D6"/>
              </a:solidFill>
              <a:prstDash val="solid"/>
              <a:miter lim="400000"/>
            </a:ln>
          </a:right>
          <a:top>
            <a:ln w="3175" cap="flat">
              <a:solidFill>
                <a:srgbClr val="D6D7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7D6"/>
              </a:solidFill>
              <a:prstDash val="solid"/>
              <a:miter lim="400000"/>
            </a:ln>
          </a:top>
          <a:bottom>
            <a:ln w="3175" cap="flat">
              <a:solidFill>
                <a:srgbClr val="D6D6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6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929292"/>
              </a:solidFill>
              <a:prstDash val="solid"/>
              <a:miter lim="400000"/>
            </a:ln>
          </a:top>
          <a:bottom>
            <a:ln w="3175" cap="flat">
              <a:solidFill>
                <a:srgbClr val="929292"/>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3175" cap="flat">
              <a:solidFill>
                <a:srgbClr val="AAAAAA"/>
              </a:solidFill>
              <a:prstDash val="solid"/>
              <a:miter lim="400000"/>
            </a:ln>
          </a:left>
          <a:right>
            <a:ln w="3175" cap="flat">
              <a:solidFill>
                <a:srgbClr val="AAAAAA"/>
              </a:solidFill>
              <a:prstDash val="solid"/>
              <a:miter lim="400000"/>
            </a:ln>
          </a:right>
          <a:top>
            <a:ln w="3175" cap="flat">
              <a:solidFill>
                <a:srgbClr val="AAAAAA"/>
              </a:solidFill>
              <a:prstDash val="solid"/>
              <a:miter lim="400000"/>
            </a:ln>
          </a:top>
          <a:bottom>
            <a:ln w="3175" cap="flat">
              <a:solidFill>
                <a:srgbClr val="AAAAAA"/>
              </a:solidFill>
              <a:prstDash val="solid"/>
              <a:miter lim="400000"/>
            </a:ln>
          </a:bottom>
          <a:insideH>
            <a:ln w="3175" cap="flat">
              <a:solidFill>
                <a:srgbClr val="AAAAAA"/>
              </a:solidFill>
              <a:prstDash val="solid"/>
              <a:miter lim="400000"/>
            </a:ln>
          </a:insideH>
          <a:insideV>
            <a:ln w="3175" cap="flat">
              <a:solidFill>
                <a:srgbClr val="AAAAAA"/>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3175" cap="flat">
              <a:solidFill>
                <a:srgbClr val="D6D7D6"/>
              </a:solidFill>
              <a:prstDash val="solid"/>
              <a:miter lim="400000"/>
            </a:ln>
          </a:left>
          <a:right>
            <a:ln w="3175" cap="flat">
              <a:solidFill>
                <a:srgbClr val="D6D7D6"/>
              </a:solidFill>
              <a:prstDash val="solid"/>
              <a:miter lim="400000"/>
            </a:ln>
          </a:right>
          <a:top>
            <a:ln w="3175" cap="flat">
              <a:solidFill>
                <a:srgbClr val="D6D7D6"/>
              </a:solidFill>
              <a:prstDash val="solid"/>
              <a:miter lim="400000"/>
            </a:ln>
          </a:top>
          <a:bottom>
            <a:ln w="3175" cap="flat">
              <a:solidFill>
                <a:srgbClr val="D6D7D6"/>
              </a:solidFill>
              <a:prstDash val="solid"/>
              <a:miter lim="400000"/>
            </a:ln>
          </a:bottom>
          <a:insideH>
            <a:ln w="3175" cap="flat">
              <a:solidFill>
                <a:srgbClr val="D6D7D6"/>
              </a:solidFill>
              <a:prstDash val="solid"/>
              <a:miter lim="400000"/>
            </a:ln>
          </a:insideH>
          <a:insideV>
            <a:ln w="3175" cap="flat">
              <a:solidFill>
                <a:srgbClr val="D6D7D6"/>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3175" cap="flat">
              <a:solidFill>
                <a:srgbClr val="909090"/>
              </a:solidFill>
              <a:prstDash val="solid"/>
              <a:miter lim="400000"/>
            </a:ln>
          </a:left>
          <a:right>
            <a:ln w="3175" cap="flat">
              <a:solidFill>
                <a:srgbClr val="909090"/>
              </a:solidFill>
              <a:prstDash val="solid"/>
              <a:miter lim="400000"/>
            </a:ln>
          </a:right>
          <a:top>
            <a:ln w="3175" cap="flat">
              <a:solidFill>
                <a:srgbClr val="909090"/>
              </a:solidFill>
              <a:prstDash val="solid"/>
              <a:miter lim="400000"/>
            </a:ln>
          </a:top>
          <a:bottom>
            <a:ln w="3175" cap="flat">
              <a:solidFill>
                <a:srgbClr val="909090"/>
              </a:solidFill>
              <a:prstDash val="solid"/>
              <a:miter lim="400000"/>
            </a:ln>
          </a:bottom>
          <a:insideH>
            <a:ln w="3175" cap="flat">
              <a:solidFill>
                <a:srgbClr val="909090"/>
              </a:solidFill>
              <a:prstDash val="solid"/>
              <a:miter lim="400000"/>
            </a:ln>
          </a:insideH>
          <a:insideV>
            <a:ln w="3175" cap="flat">
              <a:solidFill>
                <a:srgbClr val="90909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3175" cap="flat">
              <a:noFill/>
              <a:miter lim="400000"/>
            </a:ln>
          </a:top>
          <a:bottom>
            <a:ln w="12700" cap="flat">
              <a:noFill/>
              <a:miter lim="400000"/>
            </a:ln>
          </a:bottom>
          <a:insideH>
            <a:ln w="3175"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3175" cap="flat">
              <a:solidFill>
                <a:srgbClr val="929292"/>
              </a:solidFill>
              <a:custDash>
                <a:ds d="200000" sp="200000"/>
              </a:custDash>
              <a:miter lim="400000"/>
            </a:ln>
          </a:left>
          <a:right>
            <a:ln w="3175" cap="flat">
              <a:solidFill>
                <a:srgbClr val="929292"/>
              </a:solidFill>
              <a:custDash>
                <a:ds d="200000" sp="200000"/>
              </a:custDash>
              <a:miter lim="400000"/>
            </a:ln>
          </a:right>
          <a:top>
            <a:ln w="3175" cap="flat">
              <a:solidFill>
                <a:srgbClr val="929292"/>
              </a:solidFill>
              <a:custDash>
                <a:ds d="200000" sp="200000"/>
              </a:custDash>
              <a:miter lim="400000"/>
            </a:ln>
          </a:top>
          <a:bottom>
            <a:ln w="3175" cap="flat">
              <a:solidFill>
                <a:srgbClr val="929292"/>
              </a:solidFill>
              <a:custDash>
                <a:ds d="200000" sp="200000"/>
              </a:custDash>
              <a:miter lim="400000"/>
            </a:ln>
          </a:bottom>
          <a:insideH>
            <a:ln w="3175" cap="flat">
              <a:solidFill>
                <a:srgbClr val="929292"/>
              </a:solidFill>
              <a:custDash>
                <a:ds d="200000" sp="200000"/>
              </a:custDash>
              <a:miter lim="400000"/>
            </a:ln>
          </a:insideH>
          <a:insideV>
            <a:ln w="3175" cap="flat">
              <a:solidFill>
                <a:srgbClr val="929292"/>
              </a:solidFill>
              <a:custDash>
                <a:ds d="200000" sp="200000"/>
              </a:custDash>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solidFill>
                <a:srgbClr val="929292"/>
              </a:solidFill>
              <a:prstDash val="solid"/>
              <a:miter lim="400000"/>
            </a:ln>
          </a:right>
          <a:top>
            <a:ln w="3175" cap="flat">
              <a:solidFill>
                <a:srgbClr val="929292"/>
              </a:solidFill>
              <a:prstDash val="solid"/>
              <a:miter lim="400000"/>
            </a:ln>
          </a:top>
          <a:bottom>
            <a:ln w="3175" cap="flat">
              <a:solidFill>
                <a:srgbClr val="929292"/>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929292"/>
              </a:solidFill>
              <a:prstDash val="solid"/>
              <a:miter lim="400000"/>
            </a:ln>
          </a:top>
          <a:bottom>
            <a:ln w="12700" cap="flat">
              <a:noFill/>
              <a:miter lim="400000"/>
            </a:ln>
          </a:bottom>
          <a:insideH>
            <a:ln w="3175" cap="flat">
              <a:solidFill>
                <a:srgbClr val="929292"/>
              </a:solidFill>
              <a:prstDash val="solid"/>
              <a:miter lim="400000"/>
            </a:ln>
          </a:insideH>
          <a:insideV>
            <a:ln w="3175"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12700" cap="flat">
              <a:noFill/>
              <a:miter lim="400000"/>
            </a:ln>
          </a:top>
          <a:bottom>
            <a:ln w="3175" cap="flat">
              <a:solidFill>
                <a:srgbClr val="929292"/>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no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0d228f8bc88843e0" /><Relationship Type="http://schemas.openxmlformats.org/officeDocument/2006/relationships/slideMaster" Target="/ppt/slideMasters/slideMaster1.xml" Id="R2a65079f497e4a2a" /><Relationship Type="http://schemas.openxmlformats.org/officeDocument/2006/relationships/notesMaster" Target="/ppt/notesMasters/notesMaster1.xml" Id="R49a5f6abe5af46de" /><Relationship Type="http://schemas.openxmlformats.org/officeDocument/2006/relationships/presProps" Target="/ppt/presProps.xml" Id="R12e414ffca7747e0" /><Relationship Type="http://schemas.openxmlformats.org/officeDocument/2006/relationships/tableStyles" Target="/ppt/tableStyles.xml" Id="R5e111e15ee934d23" /><Relationship Type="http://schemas.openxmlformats.org/officeDocument/2006/relationships/slide" Target="/ppt/slides/slide1.xml" Id="R9976594e71e84376" /><Relationship Type="http://schemas.openxmlformats.org/officeDocument/2006/relationships/slide" Target="/ppt/slides/slide2.xml" Id="R57c3af24615b4994" /><Relationship Type="http://schemas.openxmlformats.org/officeDocument/2006/relationships/slide" Target="/ppt/slides/slide3.xml" Id="R7639ef653d91470d" /><Relationship Type="http://schemas.openxmlformats.org/officeDocument/2006/relationships/slide" Target="/ppt/slides/slide4.xml" Id="R3a7365b1e69e4d6c" /><Relationship Type="http://schemas.openxmlformats.org/officeDocument/2006/relationships/slide" Target="/ppt/slides/slide5.xml" Id="R288b495ea0fb4ba4" /><Relationship Type="http://schemas.openxmlformats.org/officeDocument/2006/relationships/slide" Target="/ppt/slides/slide6.xml" Id="R1a8b9a7747b7411d" /><Relationship Type="http://schemas.openxmlformats.org/officeDocument/2006/relationships/slide" Target="/ppt/slides/slide7.xml" Id="R05d3e199844f4b30" /><Relationship Type="http://schemas.openxmlformats.org/officeDocument/2006/relationships/slide" Target="/ppt/slides/slide8.xml" Id="Rd2d253a58a254ba3" /><Relationship Type="http://schemas.openxmlformats.org/officeDocument/2006/relationships/slide" Target="/ppt/slides/slide9.xml" Id="R6bc60b8d433348e7" /><Relationship Type="http://schemas.openxmlformats.org/officeDocument/2006/relationships/slide" Target="/ppt/slides/slide10.xml" Id="Rcd6fa526891847f7" /><Relationship Type="http://schemas.openxmlformats.org/officeDocument/2006/relationships/slide" Target="/ppt/slides/slide11.xml" Id="R3e5e5a0858984804" /><Relationship Type="http://schemas.openxmlformats.org/officeDocument/2006/relationships/slide" Target="/ppt/slides/slide12.xml" Id="Rf88d7da6c6ea47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4ed089d6964d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B39A6A"/>
      </a:hlink>
      <a:folHlink>
        <a:srgbClr val="B39A6A"/>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1943e97fe34be7" /><Relationship Type="http://schemas.openxmlformats.org/officeDocument/2006/relationships/notesMaster" Target="/ppt/notesMasters/notesMaster1.xml" Id="R91efd4791b394e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bd4fcac248428d" /><Relationship Type="http://schemas.openxmlformats.org/officeDocument/2006/relationships/notesMaster" Target="/ppt/notesMasters/notesMaster1.xml" Id="R0bb1c36f3a7a49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1e8c56a2b44b32" /><Relationship Type="http://schemas.openxmlformats.org/officeDocument/2006/relationships/notesMaster" Target="/ppt/notesMasters/notesMaster1.xml" Id="R9d17a4ff24c64c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889de0fb9643b3" /><Relationship Type="http://schemas.openxmlformats.org/officeDocument/2006/relationships/notesMaster" Target="/ppt/notesMasters/notesMaster1.xml" Id="Ra6b9e17af04d42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578bd542d8459f" /><Relationship Type="http://schemas.openxmlformats.org/officeDocument/2006/relationships/notesMaster" Target="/ppt/notesMasters/notesMaster1.xml" Id="R27120cd768324d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e3f446cdc94c16" /><Relationship Type="http://schemas.openxmlformats.org/officeDocument/2006/relationships/notesMaster" Target="/ppt/notesMasters/notesMaster1.xml" Id="R39127afba93b44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bce6beca014c37" /><Relationship Type="http://schemas.openxmlformats.org/officeDocument/2006/relationships/notesMaster" Target="/ppt/notesMasters/notesMaster1.xml" Id="Radb805a8dadf4f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f85e27bde944e6" /><Relationship Type="http://schemas.openxmlformats.org/officeDocument/2006/relationships/notesMaster" Target="/ppt/notesMasters/notesMaster1.xml" Id="R47456b91a73e49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fc0effa1a94050" /><Relationship Type="http://schemas.openxmlformats.org/officeDocument/2006/relationships/notesMaster" Target="/ppt/notesMasters/notesMaster1.xml" Id="R80e9fc3607b14d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862cd245984629" /><Relationship Type="http://schemas.openxmlformats.org/officeDocument/2006/relationships/notesMaster" Target="/ppt/notesMasters/notesMaster1.xml" Id="R0235cac416f043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c25d5313654921" /><Relationship Type="http://schemas.openxmlformats.org/officeDocument/2006/relationships/notesMaster" Target="/ppt/notesMasters/notesMaster1.xml" Id="Re19bac61f9734a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40517ee2624889" /><Relationship Type="http://schemas.openxmlformats.org/officeDocument/2006/relationships/notesMaster" Target="/ppt/notesMasters/notesMaster1.xml" Id="R8d1af2c3108647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Presentamos Hype Radar: una plataforma para expresar condiciones de mercado por voz o texto y seguirlas con un motor determinista. Cada evento conserva la evidencia necesaria para revisarlo. Nuestro foco inicial son los perpetuos de Hyperliquid y determinados mercados HIP-3. La inspiración visual no implica afiliación con Hyperliquid.</a:t>
            </a:r>
          </a:p>
          <a:p xmlns:a="http://schemas.openxmlformats.org/drawingml/2006/main">
            <a:r>
              <a:rPr sz="1200">
                <a:latin typeface="Arial"/>
                <a:ea typeface="Arial"/>
                <a:cs typeface="Arial"/>
              </a:rPr>
              <a:t>Fuentes: https://github.com/JaviChulvi/hype-radar/blob/main/README.md; Taller_B5_T4.pdf, apartados 1 y 4.1. Backdrop abstracto generado con image_gen, prompt: cinta de líquido translúcido a la derecha, carbón #181713, oro #b39a6a, verde #53ba91, sin 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necesidad que planteamos es una hipótesis de producto: seguir condiciones compuestas sin vigilar continuamente varios paneles. El usuario objetivo inicial es un trader activo que define sus propios umbrales. No hemos demostrado todavía el tamaño del mercado ni la disposición a pagar. El piloto debe validar esa necesidad.</a:t>
            </a:r>
          </a:p>
          <a:p xmlns:a="http://schemas.openxmlformats.org/drawingml/2006/main">
            <a:r>
              <a:rPr sz="1200">
                <a:latin typeface="Arial"/>
                <a:ea typeface="Arial"/>
                <a:cs typeface="Arial"/>
              </a:rPr>
              <a:t>Fuente: README.md, visión de producto y flujo objetivo. Segmento y necesidad: hipótesis comercial, no investigación de usuarios concluida.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IA ayuda a expresar una regla y a consultar datos y eventos. La decisión de si una condición se cumple pertenece al motor determinista. Separamos la verdad de la condición de la calidad de las observaciones. Una condición verdadera no implica una operación rentable ni garantiza ejecución.</a:t>
            </a:r>
          </a:p>
          <a:p xmlns:a="http://schemas.openxmlformats.org/drawingml/2006/main">
            <a:r>
              <a:rPr sz="1200">
                <a:latin typeface="Arial"/>
                <a:ea typeface="Arial"/>
                <a:cs typeface="Arial"/>
              </a:rPr>
              <a:t>Fuentes: backend/app/application/agent.py; backend/app/engine/rule_engine.py; backend/app/engine/quality.py.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captura procede de la plataforma el 4 de octubre de 2026. Mostramos el área del gráfico y el libro de órdenes, sin presentar esos precios como datos actuales. En el código actual existen además el panel de alertas, el agente y el control de voz. Los mercados SP500, XYZ100 y BRENTOIL son perpetuos de trade[XYZ], no cotizaciones oficiales de los subyacentes.</a:t>
            </a:r>
          </a:p>
          <a:p xmlns:a="http://schemas.openxmlformats.org/drawingml/2006/main">
            <a:r>
              <a:rPr sz="1200">
                <a:latin typeface="Arial"/>
                <a:ea typeface="Arial"/>
                <a:cs typeface="Arial"/>
              </a:rPr>
              <a:t>Fuentes: captura .playwright-mcp/chat-agent-desktop.png; frontend/src/App.tsx; frontend/src/OrderBook.tsx; frontend/src/Alerts.tsx; frontend/src/Chat.tsx.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grabación se transcribe y el texto aparece en el compositor para que el usuario lo revise. El envío no es automático. La petición explícita de crear una alerta autoriza al agente a llamar al servicio de alertas. El sistema devuelve los criterios exactos. Una regla basada en interés abierto puede necesitar un periodo de calentamiento para reunir su ventana. Un umbral es una condición de nivel, no necesariamente un cruce.</a:t>
            </a:r>
          </a:p>
          <a:p xmlns:a="http://schemas.openxmlformats.org/drawingml/2006/main">
            <a:r>
              <a:rPr sz="1200">
                <a:latin typeface="Arial"/>
                <a:ea typeface="Arial"/>
                <a:cs typeface="Arial"/>
              </a:rPr>
              <a:t>Fuentes: frontend/src/Chat.tsx; backend/main.py, /api/chat/transcribe; backend/app/application/agent.py; backend/app/application/alerts.py.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configuración por defecto del repositorio usa openai/whisper-1 para voz y deepseek/deepseek-v4-flash para el agente. Los modelos son configurables. La orquestación combina la transcripción con el agente y los servicios de mercado y alertas. Las gráficas de la interfaz son visualizaciones de datos numéricos, no una modalidad de visión artificial. El MVP no aporta análisis de imágenes ni síntesis de voz.</a:t>
            </a:r>
          </a:p>
          <a:p xmlns:a="http://schemas.openxmlformats.org/drawingml/2006/main">
            <a:r>
              <a:rPr sz="1200">
                <a:latin typeface="Arial"/>
                <a:ea typeface="Arial"/>
                <a:cs typeface="Arial"/>
              </a:rPr>
              <a:t>Fuentes: backend/app/config.py; backend/app/application/chat.py; backend/app/application/agent.py. Defaults revisados el 6 de octubre de 2026, no verificación del proveedor en ejecución.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fila superior resume la interacción y persistencia de reglas. La voz pasa por transcripción; el texto escrito entra directamente al agente. El agente utiliza herramientas que consultan el mismo MarketDataService que la interfaz y el evaluador. La fila inferior muestra ingestión, evaluación determinista y conservación de eventos y evidencias. Las llamadas a modelos ocurren por interacción del usuario, fuera de la evaluación por tick. PostgreSQL conserva reglas y eventos. El backend requiere un solo worker por el estado de mercado en memoria.</a:t>
            </a:r>
          </a:p>
          <a:p xmlns:a="http://schemas.openxmlformats.org/drawingml/2006/main">
            <a:r>
              <a:rPr sz="1200">
                <a:latin typeface="Arial"/>
                <a:ea typeface="Arial"/>
                <a:cs typeface="Arial"/>
              </a:rPr>
              <a:t>Fuentes: README.md, Shared market-data API y Alert evaluator; backend/main.py; backend/app/application/market_data.py; backend/app/workers/evaluator.py.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Este ejemplo es ilustrativo y no procede de un evento real. El aumento de OI satisface la condición configurada. El spread supera el máximo y, con quality_policy=block, bloquea el evento como señal válida. El historial conserva la evidencia y el motivo de bloqueo. No confundimos un dato ausente con un cero, ni una condición bloqueada con un evento confirmado. La calidad puede devolver estados válidos, advertidos, bloqueados o desconocidos según la política y los datos.</a:t>
            </a:r>
          </a:p>
          <a:p xmlns:a="http://schemas.openxmlformats.org/drawingml/2006/main">
            <a:r>
              <a:rPr sz="1200">
                <a:latin typeface="Arial"/>
                <a:ea typeface="Arial"/>
                <a:cs typeface="Arial"/>
              </a:rPr>
              <a:t>Fuentes: backend/app/engine/quality.py; backend/app/engine/rule_engine.py; backend/app/application/agent.py.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La viabilidad debe apoyarse en mediciones, no en una cifra inventada. El coste mensual suma alojamiento, minutos de voz por tarifa vigente, y tokens de entrada y salida del agente por sus tarifas. El coste por usuario activo divide ese total por usuarios activos. Los feeds compartidos y el motor determinista reducen llamadas redundantes y evitan una llamada a IA por tick. El agente limita llamadas de modelo, herramientas y tokens. El README recoge un objetivo inicial de evaluación p95 inferior a 100 ms, que no presentamos como latencia medida. Antes de comercializar se deben medir los costes y revisar el tratamiento de datos y los requisitos regulatorios aplicables.</a:t>
            </a:r>
          </a:p>
          <a:p xmlns:a="http://schemas.openxmlformats.org/drawingml/2006/main">
            <a:r>
              <a:rPr sz="1200">
                <a:latin typeface="Arial"/>
                <a:ea typeface="Arial"/>
                <a:cs typeface="Arial"/>
              </a:rPr>
              <a:t>Fuentes: README.md, Validation and performance targets; backend/app/config.py; backend/app/application/agent.py.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El modelo de suscripción es una hipótesis, no una oferta comercial activa. El piloto propuesto tiene como objetivo diez usuarios y busca medir si consiguen crear una regla, vuelven a los siete días y muestran disposición a pagar. El piloto actual debe ser controlado porque las reglas pertenecen a una instancia compartida. Antes de cuentas comerciales independientes haría falta autorización por usuario y cuotas asociadas a cada cuenta. No presentamos usuarios, ingresos o retención existentes.</a:t>
            </a:r>
          </a:p>
          <a:p xmlns:a="http://schemas.openxmlformats.org/drawingml/2006/main">
            <a:r>
              <a:rPr sz="1200">
                <a:latin typeface="Arial"/>
                <a:ea typeface="Arial"/>
                <a:cs typeface="Arial"/>
              </a:rPr>
              <a:t>Fuentes: README.md, limitaciones de instancia y roadmap. Plan de piloto y modelo de negocio: propuesta del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Esta distinción evita atribuir al MVP capacidades de la visión futura. La entrega externa por Telegram, el envío de outbox, las cuentas y permisos por usuario y la edición de condiciones de reglas siguen pendientes. El proyecto no ejecuta operaciones ni necesita claves de trading. Las grabaciones se procesan para transcripción y no se guardan por la aplicación. Proveedores externos procesan texto y audio. El acceso de despliegue utiliza una frontera compartida y no equivale a aislamiento por usuario. Para comercializar se debe revisar privacidad, derechos de datos y obligaciones aplicables.</a:t>
            </a:r>
          </a:p>
          <a:p xmlns:a="http://schemas.openxmlformats.org/drawingml/2006/main">
            <a:r>
              <a:rPr sz="1200">
                <a:latin typeface="Arial"/>
                <a:ea typeface="Arial"/>
                <a:cs typeface="Arial"/>
              </a:rPr>
              <a:t>Fuentes: README.md, Alert evaluator, OpenRouter chat y AI boundaries; backend/app/application/agent.py.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a:ea typeface="Arial"/>
                <a:cs typeface="Arial"/>
              </a:rPr>
              <a:t>Cerramos con una invitación a probar el flujo completo: formular una condición, revisar su definición, seguir el estado de monitorización y consultar la evidencia de un evento. El repositorio permite revisar código, documentación y arranque del MVP. Para la demostración podemos usar un evento grabado o un replay claramente identificado, evitando depender de que el mercado dispare una condición durante la presentación.</a:t>
            </a:r>
          </a:p>
          <a:p xmlns:a="http://schemas.openxmlformats.org/drawingml/2006/main">
            <a:r>
              <a:rPr sz="1200">
                <a:latin typeface="Arial"/>
                <a:ea typeface="Arial"/>
                <a:cs typeface="Arial"/>
              </a:rPr>
              <a:t>Fuente: https://github.com/JaviChulvi/hype-radar; README.md, Replay and local startup.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56e4383a2740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16e5cccf4c49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10e539d6f348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89822f3d0944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5a1029e71f40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fdf4adb84a48e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1c885d6584c45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be4dfb55f574a5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5e73cb764444a0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be8feb1e0ca4c0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a56ff9f1bf44e6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af1a7cae1294b2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d9f22358d77414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3bae56038704a32" /></Relationships>
</file>

<file path=ppt/slideLayouts/slideLayout1.xml><?xml version="1.0" encoding="utf-8"?>
<p:sldLayout xmlns:p="http://schemas.openxmlformats.org/presentationml/2006/main" showMasterSp="1" showMasterPhAnim="1" type="title">
  <p:cSld name="Title">
    <p:spTree>
      <p:nvGrpSpPr>
        <p:cNvPr id="1" name=""/>
        <p:cNvGrpSpPr/>
        <p:nvPr/>
      </p:nvGrpSpPr>
      <p:grpSpPr>
        <a:xfrm xmlns:a="http://schemas.openxmlformats.org/drawingml/2006/main"/>
      </p:grpSpPr>
      <p:sp>
        <p:nvSpPr>
          <p:cNvPr id="11" name="Title Text">
            <a:extLst xmlns:a="http://schemas.openxmlformats.org/drawingml/2006/main">
              <a:ext uri="{FF2B5EF4-FFF2-40B4-BE49-F238E27FC236}">
                <a16:creationId xmlns:a16="http://schemas.microsoft.com/office/drawing/2014/main" id="{27863E0B-0531-4A31-9FD2-9B5FC953944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Title Text</a:t>
            </a:r>
          </a:p>
        </p:txBody>
      </p:sp>
      <p:sp>
        <p:nvSpPr>
          <p:cNvPr id="12" name="Body Level One…">
            <a:extLst xmlns:a="http://schemas.openxmlformats.org/drawingml/2006/main">
              <a:ext uri="{FF2B5EF4-FFF2-40B4-BE49-F238E27FC236}">
                <a16:creationId xmlns:a16="http://schemas.microsoft.com/office/drawing/2014/main" id="{A7783524-2210-414F-B7C1-962E95F408BF}"/>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3" name="Slide Number">
            <a:extLst xmlns:a="http://schemas.openxmlformats.org/drawingml/2006/main">
              <a:ext uri="{FF2B5EF4-FFF2-40B4-BE49-F238E27FC236}">
                <a16:creationId xmlns:a16="http://schemas.microsoft.com/office/drawing/2014/main" id="{7D902795-3301-4F7C-84B4-A716AB3911E7}"/>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1">
  <p:cSld name="Photo - Horizontal">
    <p:spTree>
      <p:nvGrpSpPr>
        <p:cNvPr id="1" name=""/>
        <p:cNvGrpSpPr/>
        <p:nvPr/>
      </p:nvGrpSpPr>
      <p:grpSpPr>
        <a:xfrm xmlns:a="http://schemas.openxmlformats.org/drawingml/2006/main"/>
      </p:grpSpPr>
      <p:sp>
        <p:nvSpPr>
          <p:cNvPr id="20" name="River flowing through a tropical forest">
            <a:extLst xmlns:a="http://schemas.openxmlformats.org/drawingml/2006/main">
              <a:ext uri="{FF2B5EF4-FFF2-40B4-BE49-F238E27FC236}">
                <a16:creationId xmlns:a16="http://schemas.microsoft.com/office/drawing/2014/main" id="{645F421E-28B5-45DB-A28B-B4A1784723E5}"/>
              </a:ext>
            </a:extLst>
          </p:cNvPr>
          <p:cNvSpPr>
            <a:spLocks xmlns:a="http://schemas.openxmlformats.org/drawingml/2006/main" noGrp="1"/>
          </p:cNvSpPr>
          <p:nvPr>
            <p:ph type="pic" idx="21"/>
          </p:nvPr>
        </p:nvSpPr>
        <p:spPr>
          <a:xfrm xmlns:a="http://schemas.openxmlformats.org/drawingml/2006/main">
            <a:off x="4098652" y="740844"/>
            <a:ext cx="8060268" cy="6048000"/>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21" name="Title Text">
            <a:extLst xmlns:a="http://schemas.openxmlformats.org/drawingml/2006/main">
              <a:ext uri="{FF2B5EF4-FFF2-40B4-BE49-F238E27FC236}">
                <a16:creationId xmlns:a16="http://schemas.microsoft.com/office/drawing/2014/main" id="{A9CFCD2C-49C2-4BF1-BCB1-87ED63BD4B2B}"/>
              </a:ext>
            </a:extLst>
          </p:cNvPr>
          <p:cNvSpPr>
            <a:spLocks xmlns:a="http://schemas.openxmlformats.org/drawingml/2006/main" noGrp="1"/>
          </p:cNvSpPr>
          <p:nvPr>
            <p:ph type="title" idx="0"/>
          </p:nvPr>
        </p:nvSpPr>
        <p:spPr>
          <a:xfrm xmlns:a="http://schemas.openxmlformats.org/drawingml/2006/main">
            <a:off x="2991555" y="5751688"/>
            <a:ext cx="10272890" cy="891824"/>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22" name="Body Level One…">
            <a:extLst xmlns:a="http://schemas.openxmlformats.org/drawingml/2006/main">
              <a:ext uri="{FF2B5EF4-FFF2-40B4-BE49-F238E27FC236}">
                <a16:creationId xmlns:a16="http://schemas.microsoft.com/office/drawing/2014/main" id="{53E50492-8B3B-44EB-A730-A042392FB1E3}"/>
              </a:ext>
            </a:extLst>
          </p:cNvPr>
          <p:cNvSpPr>
            <a:spLocks xmlns:a="http://schemas.openxmlformats.org/drawingml/2006/main" noGrp="1"/>
          </p:cNvSpPr>
          <p:nvPr>
            <p:ph type="body" idx="1"/>
          </p:nvPr>
        </p:nvSpPr>
        <p:spPr>
          <a:xfrm xmlns:a="http://schemas.openxmlformats.org/drawingml/2006/main">
            <a:off x="2991555" y="6609644"/>
            <a:ext cx="10272890" cy="70555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23" name="Slide Number">
            <a:extLst xmlns:a="http://schemas.openxmlformats.org/drawingml/2006/main">
              <a:ext uri="{FF2B5EF4-FFF2-40B4-BE49-F238E27FC236}">
                <a16:creationId xmlns:a16="http://schemas.microsoft.com/office/drawing/2014/main" id="{F72278DD-BDDE-46B9-A63C-4EEE19A0F24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3.xml><?xml version="1.0" encoding="utf-8"?>
<p:sldLayout xmlns:p="http://schemas.openxmlformats.org/presentationml/2006/main" showMasterSp="1" showMasterPhAnim="1">
  <p:cSld name="Title - Centre">
    <p:spTree>
      <p:nvGrpSpPr>
        <p:cNvPr id="1" name=""/>
        <p:cNvGrpSpPr/>
        <p:nvPr/>
      </p:nvGrpSpPr>
      <p:grpSpPr>
        <a:xfrm xmlns:a="http://schemas.openxmlformats.org/drawingml/2006/main"/>
      </p:grpSpPr>
      <p:sp>
        <p:nvSpPr>
          <p:cNvPr id="30" name="Title Text">
            <a:extLst xmlns:a="http://schemas.openxmlformats.org/drawingml/2006/main">
              <a:ext uri="{FF2B5EF4-FFF2-40B4-BE49-F238E27FC236}">
                <a16:creationId xmlns:a16="http://schemas.microsoft.com/office/drawing/2014/main" id="{96BCBB3B-BB39-456C-BB35-C3561CF8D053}"/>
              </a:ext>
            </a:extLst>
          </p:cNvPr>
          <p:cNvSpPr>
            <a:spLocks xmlns:a="http://schemas.openxmlformats.org/drawingml/2006/main" noGrp="1"/>
          </p:cNvSpPr>
          <p:nvPr>
            <p:ph type="title" idx="0"/>
          </p:nvPr>
        </p:nvSpPr>
        <p:spPr>
          <a:xfrm xmlns:a="http://schemas.openxmlformats.org/drawingml/2006/main">
            <a:off x="3499555" y="3539066"/>
            <a:ext cx="9256890" cy="2065868"/>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31" name="Slide Number">
            <a:extLst xmlns:a="http://schemas.openxmlformats.org/drawingml/2006/main">
              <a:ext uri="{FF2B5EF4-FFF2-40B4-BE49-F238E27FC236}">
                <a16:creationId xmlns:a16="http://schemas.microsoft.com/office/drawing/2014/main" id="{7404078B-93C1-47AD-A2E0-C450147FF111}"/>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4.xml><?xml version="1.0" encoding="utf-8"?>
<p:sldLayout xmlns:p="http://schemas.openxmlformats.org/presentationml/2006/main" showMasterSp="1" showMasterPhAnim="1">
  <p:cSld name="Photo - Vertical">
    <p:spTree>
      <p:nvGrpSpPr>
        <p:cNvPr id="1" name=""/>
        <p:cNvGrpSpPr/>
        <p:nvPr/>
      </p:nvGrpSpPr>
      <p:grpSpPr>
        <a:xfrm xmlns:a="http://schemas.openxmlformats.org/drawingml/2006/main"/>
      </p:grpSpPr>
      <p:sp>
        <p:nvSpPr>
          <p:cNvPr id="38" name="Close-up of an orange flower surrounded by large tropical leaves">
            <a:extLst xmlns:a="http://schemas.openxmlformats.org/drawingml/2006/main">
              <a:ext uri="{FF2B5EF4-FFF2-40B4-BE49-F238E27FC236}">
                <a16:creationId xmlns:a16="http://schemas.microsoft.com/office/drawing/2014/main" id="{B00C776C-B1D3-4669-981B-6647AD77FFAB}"/>
              </a:ext>
            </a:extLst>
          </p:cNvPr>
          <p:cNvSpPr>
            <a:spLocks xmlns:a="http://schemas.openxmlformats.org/drawingml/2006/main" noGrp="1"/>
          </p:cNvSpPr>
          <p:nvPr>
            <p:ph type="pic" idx="21"/>
          </p:nvPr>
        </p:nvSpPr>
        <p:spPr>
          <a:xfrm xmlns:a="http://schemas.openxmlformats.org/drawingml/2006/main">
            <a:off x="5288844" y="1947333"/>
            <a:ext cx="7660458" cy="5096934"/>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39" name="Title Text">
            <a:extLst xmlns:a="http://schemas.openxmlformats.org/drawingml/2006/main">
              <a:ext uri="{FF2B5EF4-FFF2-40B4-BE49-F238E27FC236}">
                <a16:creationId xmlns:a16="http://schemas.microsoft.com/office/drawing/2014/main" id="{B3DF1A12-31A9-4AE8-9587-65F87C90C6B9}"/>
              </a:ext>
            </a:extLst>
          </p:cNvPr>
          <p:cNvSpPr>
            <a:spLocks xmlns:a="http://schemas.openxmlformats.org/drawingml/2006/main" noGrp="1"/>
          </p:cNvSpPr>
          <p:nvPr>
            <p:ph type="title" idx="0"/>
          </p:nvPr>
        </p:nvSpPr>
        <p:spPr>
          <a:xfrm xmlns:a="http://schemas.openxmlformats.org/drawingml/2006/main">
            <a:off x="3443110" y="1947333"/>
            <a:ext cx="4543779" cy="2466623"/>
          </a:xfrm>
          <a:prstGeom xmlns:a="http://schemas.openxmlformats.org/drawingml/2006/main" prst="rect">
            <a:avLst/>
          </a:prstGeom>
        </p:spPr>
        <p:txBody>
          <a:bodyPr xmlns:a="http://schemas.openxmlformats.org/drawingml/2006/main"/>
          <a:lstStyle xmlns:a="http://schemas.openxmlformats.org/drawingml/2006/main">
            <a:lvl1pPr>
              <a:buNone/>
              <a:defRPr sz="5600"/>
            </a:lvl1pPr>
          </a:lstStyle>
          <a:p xmlns:a="http://schemas.openxmlformats.org/drawingml/2006/main">
            <a:pPr>
              <a:buNone/>
            </a:pPr>
            <a:r>
              <a:t>Title Text</a:t>
            </a:r>
          </a:p>
        </p:txBody>
      </p:sp>
      <p:sp>
        <p:nvSpPr>
          <p:cNvPr id="40" name="Body Level One…">
            <a:extLst xmlns:a="http://schemas.openxmlformats.org/drawingml/2006/main">
              <a:ext uri="{FF2B5EF4-FFF2-40B4-BE49-F238E27FC236}">
                <a16:creationId xmlns:a16="http://schemas.microsoft.com/office/drawing/2014/main" id="{4FF786C7-A5B0-4F12-8232-1C8134BEA9C1}"/>
              </a:ext>
            </a:extLst>
          </p:cNvPr>
          <p:cNvSpPr>
            <a:spLocks xmlns:a="http://schemas.openxmlformats.org/drawingml/2006/main" noGrp="1"/>
          </p:cNvSpPr>
          <p:nvPr>
            <p:ph type="body" idx="1"/>
          </p:nvPr>
        </p:nvSpPr>
        <p:spPr>
          <a:xfrm xmlns:a="http://schemas.openxmlformats.org/drawingml/2006/main">
            <a:off x="3443110" y="4425244"/>
            <a:ext cx="4543779" cy="2545646"/>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41" name="Slide Number">
            <a:extLst xmlns:a="http://schemas.openxmlformats.org/drawingml/2006/main">
              <a:ext uri="{FF2B5EF4-FFF2-40B4-BE49-F238E27FC236}">
                <a16:creationId xmlns:a16="http://schemas.microsoft.com/office/drawing/2014/main" id="{651C50BE-9E40-49D0-8459-61EE5D82F801}"/>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5.xml><?xml version="1.0" encoding="utf-8"?>
<p:sldLayout xmlns:p="http://schemas.openxmlformats.org/presentationml/2006/main" showMasterSp="1" showMasterPhAnim="1">
  <p:cSld name="Title - Top">
    <p:spTree>
      <p:nvGrpSpPr>
        <p:cNvPr id="1" name=""/>
        <p:cNvGrpSpPr/>
        <p:nvPr/>
      </p:nvGrpSpPr>
      <p:grpSpPr>
        <a:xfrm xmlns:a="http://schemas.openxmlformats.org/drawingml/2006/main"/>
      </p:grpSpPr>
      <p:sp>
        <p:nvSpPr>
          <p:cNvPr id="48" name="Title Text">
            <a:extLst xmlns:a="http://schemas.openxmlformats.org/drawingml/2006/main">
              <a:ext uri="{FF2B5EF4-FFF2-40B4-BE49-F238E27FC236}">
                <a16:creationId xmlns:a16="http://schemas.microsoft.com/office/drawing/2014/main" id="{76334A27-257B-4758-8E0E-1AC570BBAF56}"/>
              </a:ext>
            </a:extLst>
          </p:cNvPr>
          <p:cNvSpPr>
            <a:spLocks xmlns:a="http://schemas.openxmlformats.org/drawingml/2006/main" noGrp="1"/>
          </p:cNvSpPr>
          <p:nvPr>
            <p:ph type="title" idx="0"/>
          </p:nvPr>
        </p:nvSpPr>
        <p:spPr>
          <a:xfrm xmlns:a="http://schemas.openxmlformats.org/drawingml/2006/main">
            <a:off x="3460044" y="1682044"/>
            <a:ext cx="9335912" cy="1016001"/>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49" name="Slide Number">
            <a:extLst xmlns:a="http://schemas.openxmlformats.org/drawingml/2006/main">
              <a:ext uri="{FF2B5EF4-FFF2-40B4-BE49-F238E27FC236}">
                <a16:creationId xmlns:a16="http://schemas.microsoft.com/office/drawing/2014/main" id="{4B55FDFD-44B2-4DC5-8517-3D13BF6AD5E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6.xml><?xml version="1.0" encoding="utf-8"?>
<p:sldLayout xmlns:p="http://schemas.openxmlformats.org/presentationml/2006/main" showMasterSp="1" showMasterPhAnim="1">
  <p:cSld name="Title &amp; Bullets">
    <p:spTree>
      <p:nvGrpSpPr>
        <p:cNvPr id="1" name=""/>
        <p:cNvGrpSpPr/>
        <p:nvPr/>
      </p:nvGrpSpPr>
      <p:grpSpPr>
        <a:xfrm xmlns:a="http://schemas.openxmlformats.org/drawingml/2006/main"/>
      </p:grpSpPr>
      <p:sp>
        <p:nvSpPr>
          <p:cNvPr id="56" name="Title Text">
            <a:extLst xmlns:a="http://schemas.openxmlformats.org/drawingml/2006/main">
              <a:ext uri="{FF2B5EF4-FFF2-40B4-BE49-F238E27FC236}">
                <a16:creationId xmlns:a16="http://schemas.microsoft.com/office/drawing/2014/main" id="{018CC122-EA72-4569-A37D-AECA61C9CED7}"/>
              </a:ext>
            </a:extLst>
          </p:cNvPr>
          <p:cNvSpPr>
            <a:spLocks xmlns:a="http://schemas.openxmlformats.org/drawingml/2006/main" noGrp="1"/>
          </p:cNvSpPr>
          <p:nvPr>
            <p:ph type="title" idx="0"/>
          </p:nvPr>
        </p:nvSpPr>
        <p:spPr>
          <a:xfrm xmlns:a="http://schemas.openxmlformats.org/drawingml/2006/main">
            <a:off x="3460044" y="1682044"/>
            <a:ext cx="9335912" cy="1016001"/>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57" name="Body Level One…">
            <a:extLst xmlns:a="http://schemas.openxmlformats.org/drawingml/2006/main">
              <a:ext uri="{FF2B5EF4-FFF2-40B4-BE49-F238E27FC236}">
                <a16:creationId xmlns:a16="http://schemas.microsoft.com/office/drawing/2014/main" id="{838E3608-9F8D-4976-A73C-7BFBEDC5DCA4}"/>
              </a:ext>
            </a:extLst>
          </p:cNvPr>
          <p:cNvSpPr>
            <a:spLocks xmlns:a="http://schemas.openxmlformats.org/drawingml/2006/main" noGrp="1"/>
          </p:cNvSpPr>
          <p:nvPr>
            <p:ph type="body" idx="1"/>
          </p:nvPr>
        </p:nvSpPr>
        <p:spPr>
          <a:xfrm xmlns:a="http://schemas.openxmlformats.org/drawingml/2006/main">
            <a:off x="3460044" y="2923822"/>
            <a:ext cx="9335912" cy="4131734"/>
          </a:xfrm>
          <a:prstGeom xmlns:a="http://schemas.openxmlformats.org/drawingml/2006/main" prst="rect">
            <a:avLst/>
          </a:prstGeom>
        </p:spPr>
        <p:txBody>
          <a:bodyPr xmlns:a="http://schemas.openxmlformats.org/drawingml/2006/main" anchor="ctr"/>
          <a:lstStyle xmlns:a="http://schemas.openxmlformats.org/drawingml/2006/main">
            <a:lvl1pPr marL="423333" indent="-423333" algn="l">
              <a:spcBef>
                <a:spcPts val="3900"/>
              </a:spcBef>
              <a:buSzPct val="125000"/>
              <a:buChar char="•"/>
              <a:defRPr sz="3200"/>
            </a:lvl1pPr>
            <a:lvl2pPr marL="1058333" indent="-423333" algn="l">
              <a:spcBef>
                <a:spcPts val="3900"/>
              </a:spcBef>
              <a:buSzPct val="125000"/>
              <a:buChar char="•"/>
              <a:defRPr sz="3200"/>
            </a:lvl2pPr>
            <a:lvl3pPr marL="1693333" indent="-423333"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58" name="Slide Number">
            <a:extLst xmlns:a="http://schemas.openxmlformats.org/drawingml/2006/main">
              <a:ext uri="{FF2B5EF4-FFF2-40B4-BE49-F238E27FC236}">
                <a16:creationId xmlns:a16="http://schemas.microsoft.com/office/drawing/2014/main" id="{522A3996-DB6C-48F7-A16E-6EAF08611B6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7.xml><?xml version="1.0" encoding="utf-8"?>
<p:sldLayout xmlns:p="http://schemas.openxmlformats.org/presentationml/2006/main" showMasterSp="1" showMasterPhAnim="1">
  <p:cSld name="Title, Bullets &amp; Photo">
    <p:spTree>
      <p:nvGrpSpPr>
        <p:cNvPr id="1" name=""/>
        <p:cNvGrpSpPr/>
        <p:nvPr/>
      </p:nvGrpSpPr>
      <p:grpSpPr>
        <a:xfrm xmlns:a="http://schemas.openxmlformats.org/drawingml/2006/main"/>
      </p:grpSpPr>
      <p:sp>
        <p:nvSpPr>
          <p:cNvPr id="65" name="Close-up of a red-eyed tree frog perched on a leaf">
            <a:extLst xmlns:a="http://schemas.openxmlformats.org/drawingml/2006/main">
              <a:ext uri="{FF2B5EF4-FFF2-40B4-BE49-F238E27FC236}">
                <a16:creationId xmlns:a16="http://schemas.microsoft.com/office/drawing/2014/main" id="{F897E19C-800B-48E9-95F1-FFE5D48803A2}"/>
              </a:ext>
            </a:extLst>
          </p:cNvPr>
          <p:cNvSpPr>
            <a:spLocks xmlns:a="http://schemas.openxmlformats.org/drawingml/2006/main" noGrp="1"/>
          </p:cNvSpPr>
          <p:nvPr>
            <p:ph type="pic" idx="21"/>
          </p:nvPr>
        </p:nvSpPr>
        <p:spPr>
          <a:xfrm xmlns:a="http://schemas.openxmlformats.org/drawingml/2006/main">
            <a:off x="6598355" y="2923822"/>
            <a:ext cx="6197601" cy="4131734"/>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66" name="Title Text">
            <a:extLst xmlns:a="http://schemas.openxmlformats.org/drawingml/2006/main">
              <a:ext uri="{FF2B5EF4-FFF2-40B4-BE49-F238E27FC236}">
                <a16:creationId xmlns:a16="http://schemas.microsoft.com/office/drawing/2014/main" id="{3E0F9490-96D5-4609-B05B-0CC14EFA67C2}"/>
              </a:ext>
            </a:extLst>
          </p:cNvPr>
          <p:cNvSpPr>
            <a:spLocks xmlns:a="http://schemas.openxmlformats.org/drawingml/2006/main" noGrp="1"/>
          </p:cNvSpPr>
          <p:nvPr>
            <p:ph type="title" idx="0"/>
          </p:nvPr>
        </p:nvSpPr>
        <p:spPr>
          <a:xfrm xmlns:a="http://schemas.openxmlformats.org/drawingml/2006/main">
            <a:off x="3460044" y="1682044"/>
            <a:ext cx="9335912" cy="1016001"/>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67" name="Body Level One…">
            <a:extLst xmlns:a="http://schemas.openxmlformats.org/drawingml/2006/main">
              <a:ext uri="{FF2B5EF4-FFF2-40B4-BE49-F238E27FC236}">
                <a16:creationId xmlns:a16="http://schemas.microsoft.com/office/drawing/2014/main" id="{713D7B4A-676B-470B-A03B-4255A3523773}"/>
              </a:ext>
            </a:extLst>
          </p:cNvPr>
          <p:cNvSpPr>
            <a:spLocks xmlns:a="http://schemas.openxmlformats.org/drawingml/2006/main" noGrp="1"/>
          </p:cNvSpPr>
          <p:nvPr>
            <p:ph type="body" idx="1"/>
          </p:nvPr>
        </p:nvSpPr>
        <p:spPr>
          <a:xfrm xmlns:a="http://schemas.openxmlformats.org/drawingml/2006/main">
            <a:off x="3460044" y="2923822"/>
            <a:ext cx="4543779" cy="4131734"/>
          </a:xfrm>
          <a:prstGeom xmlns:a="http://schemas.openxmlformats.org/drawingml/2006/main" prst="rect">
            <a:avLst/>
          </a:prstGeom>
        </p:spPr>
        <p:txBody>
          <a:bodyPr xmlns:a="http://schemas.openxmlformats.org/drawingml/2006/main" anchor="ctr"/>
          <a:lstStyle xmlns:a="http://schemas.openxmlformats.org/drawingml/2006/main">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68" name="Slide Number">
            <a:extLst xmlns:a="http://schemas.openxmlformats.org/drawingml/2006/main">
              <a:ext uri="{FF2B5EF4-FFF2-40B4-BE49-F238E27FC236}">
                <a16:creationId xmlns:a16="http://schemas.microsoft.com/office/drawing/2014/main" id="{E28ACBEC-0B03-4DF7-998F-EC659EC09A70}"/>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8.xml><?xml version="1.0" encoding="utf-8"?>
<p:sldLayout xmlns:p="http://schemas.openxmlformats.org/presentationml/2006/main" showMasterSp="1" showMasterPhAnim="1">
  <p:cSld name="Title, Bullets &amp; Live Video Small">
    <p:spTree>
      <p:nvGrpSpPr>
        <p:cNvPr id="1" name=""/>
        <p:cNvGrpSpPr/>
        <p:nvPr/>
      </p:nvGrpSpPr>
      <p:grpSpPr>
        <a:xfrm xmlns:a="http://schemas.openxmlformats.org/drawingml/2006/main"/>
      </p:grpSpPr>
      <p:sp>
        <p:nvSpPr>
          <p:cNvPr id="75" name="Title Text">
            <a:extLst xmlns:a="http://schemas.openxmlformats.org/drawingml/2006/main">
              <a:ext uri="{FF2B5EF4-FFF2-40B4-BE49-F238E27FC236}">
                <a16:creationId xmlns:a16="http://schemas.microsoft.com/office/drawing/2014/main" id="{9043F1F6-4907-4584-8F68-9FE5DCDE9F6F}"/>
              </a:ext>
            </a:extLst>
          </p:cNvPr>
          <p:cNvSpPr>
            <a:spLocks xmlns:a="http://schemas.openxmlformats.org/drawingml/2006/main" noGrp="1"/>
          </p:cNvSpPr>
          <p:nvPr>
            <p:ph type="title" idx="0"/>
          </p:nvPr>
        </p:nvSpPr>
        <p:spPr>
          <a:xfrm xmlns:a="http://schemas.openxmlformats.org/drawingml/2006/main">
            <a:off x="3460044" y="1682044"/>
            <a:ext cx="9335912" cy="1016001"/>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76" name="Body Level One…">
            <a:extLst xmlns:a="http://schemas.openxmlformats.org/drawingml/2006/main">
              <a:ext uri="{FF2B5EF4-FFF2-40B4-BE49-F238E27FC236}">
                <a16:creationId xmlns:a16="http://schemas.microsoft.com/office/drawing/2014/main" id="{D04B2AA6-AB12-4F2D-95DF-D4EE41DAA46B}"/>
              </a:ext>
            </a:extLst>
          </p:cNvPr>
          <p:cNvSpPr>
            <a:spLocks xmlns:a="http://schemas.openxmlformats.org/drawingml/2006/main" noGrp="1"/>
          </p:cNvSpPr>
          <p:nvPr>
            <p:ph type="body" idx="1"/>
          </p:nvPr>
        </p:nvSpPr>
        <p:spPr>
          <a:xfrm xmlns:a="http://schemas.openxmlformats.org/drawingml/2006/main">
            <a:off x="3460044" y="2923822"/>
            <a:ext cx="4543779" cy="4131734"/>
          </a:xfrm>
          <a:prstGeom xmlns:a="http://schemas.openxmlformats.org/drawingml/2006/main" prst="rect">
            <a:avLst/>
          </a:prstGeom>
        </p:spPr>
        <p:txBody>
          <a:bodyPr xmlns:a="http://schemas.openxmlformats.org/drawingml/2006/main" anchor="ctr"/>
          <a:lstStyle xmlns:a="http://schemas.openxmlformats.org/drawingml/2006/main">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77" name="Slide Number">
            <a:extLst xmlns:a="http://schemas.openxmlformats.org/drawingml/2006/main">
              <a:ext uri="{FF2B5EF4-FFF2-40B4-BE49-F238E27FC236}">
                <a16:creationId xmlns:a16="http://schemas.microsoft.com/office/drawing/2014/main" id="{1E2921DD-B8BC-482F-871E-ABF35383B9C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9.xml><?xml version="1.0" encoding="utf-8"?>
<p:sldLayout xmlns:p="http://schemas.openxmlformats.org/presentationml/2006/main" showMasterSp="1" showMasterPhAnim="1">
  <p:cSld name="Title, Bullets &amp; Live Video Large">
    <p:spTree>
      <p:nvGrpSpPr>
        <p:cNvPr id="1" name=""/>
        <p:cNvGrpSpPr/>
        <p:nvPr/>
      </p:nvGrpSpPr>
      <p:grpSpPr>
        <a:xfrm xmlns:a="http://schemas.openxmlformats.org/drawingml/2006/main"/>
      </p:grpSpPr>
      <p:sp>
        <p:nvSpPr>
          <p:cNvPr id="84" name="Title Text">
            <a:extLst xmlns:a="http://schemas.openxmlformats.org/drawingml/2006/main">
              <a:ext uri="{FF2B5EF4-FFF2-40B4-BE49-F238E27FC236}">
                <a16:creationId xmlns:a16="http://schemas.microsoft.com/office/drawing/2014/main" id="{784996B7-74AA-4927-9F06-D041F92DBF1A}"/>
              </a:ext>
            </a:extLst>
          </p:cNvPr>
          <p:cNvSpPr>
            <a:spLocks xmlns:a="http://schemas.openxmlformats.org/drawingml/2006/main" noGrp="1"/>
          </p:cNvSpPr>
          <p:nvPr>
            <p:ph type="title" idx="0"/>
          </p:nvPr>
        </p:nvSpPr>
        <p:spPr>
          <a:xfrm xmlns:a="http://schemas.openxmlformats.org/drawingml/2006/main">
            <a:off x="3460044" y="1682044"/>
            <a:ext cx="9335912" cy="1016001"/>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buNone/>
            </a:pPr>
            <a:r>
              <a:t>Title Text</a:t>
            </a:r>
          </a:p>
        </p:txBody>
      </p:sp>
      <p:sp>
        <p:nvSpPr>
          <p:cNvPr id="85" name="Body Level One…">
            <a:extLst xmlns:a="http://schemas.openxmlformats.org/drawingml/2006/main">
              <a:ext uri="{FF2B5EF4-FFF2-40B4-BE49-F238E27FC236}">
                <a16:creationId xmlns:a16="http://schemas.microsoft.com/office/drawing/2014/main" id="{FDA77A4C-A969-4DAD-B307-A04D39EA64AF}"/>
              </a:ext>
            </a:extLst>
          </p:cNvPr>
          <p:cNvSpPr>
            <a:spLocks xmlns:a="http://schemas.openxmlformats.org/drawingml/2006/main" noGrp="1"/>
          </p:cNvSpPr>
          <p:nvPr>
            <p:ph type="body" idx="1"/>
          </p:nvPr>
        </p:nvSpPr>
        <p:spPr>
          <a:xfrm xmlns:a="http://schemas.openxmlformats.org/drawingml/2006/main">
            <a:off x="3460044" y="2923822"/>
            <a:ext cx="4543779" cy="4131734"/>
          </a:xfrm>
          <a:prstGeom xmlns:a="http://schemas.openxmlformats.org/drawingml/2006/main" prst="rect">
            <a:avLst/>
          </a:prstGeom>
        </p:spPr>
        <p:txBody>
          <a:bodyPr xmlns:a="http://schemas.openxmlformats.org/drawingml/2006/main" anchor="ctr"/>
          <a:lstStyle xmlns:a="http://schemas.openxmlformats.org/drawingml/2006/main">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86" name="Slide Number">
            <a:extLst xmlns:a="http://schemas.openxmlformats.org/drawingml/2006/main">
              <a:ext uri="{FF2B5EF4-FFF2-40B4-BE49-F238E27FC236}">
                <a16:creationId xmlns:a16="http://schemas.microsoft.com/office/drawing/2014/main" id="{38B6A153-61C7-4387-9675-733728DECCB6}"/>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0.xml><?xml version="1.0" encoding="utf-8"?>
<p:sldLayout xmlns:p="http://schemas.openxmlformats.org/presentationml/2006/main" showMasterSp="1" showMasterPhAnim="1">
  <p:cSld name="Bullets">
    <p:spTree>
      <p:nvGrpSpPr>
        <p:cNvPr id="1" name=""/>
        <p:cNvGrpSpPr/>
        <p:nvPr/>
      </p:nvGrpSpPr>
      <p:grpSpPr>
        <a:xfrm xmlns:a="http://schemas.openxmlformats.org/drawingml/2006/main"/>
      </p:grpSpPr>
      <p:sp>
        <p:nvSpPr>
          <p:cNvPr id="93" name="Body Level One…">
            <a:extLst xmlns:a="http://schemas.openxmlformats.org/drawingml/2006/main">
              <a:ext uri="{FF2B5EF4-FFF2-40B4-BE49-F238E27FC236}">
                <a16:creationId xmlns:a16="http://schemas.microsoft.com/office/drawing/2014/main" id="{0EAFD595-A276-4896-95D8-1566C96307A8}"/>
              </a:ext>
            </a:extLst>
          </p:cNvPr>
          <p:cNvSpPr>
            <a:spLocks xmlns:a="http://schemas.openxmlformats.org/drawingml/2006/main" noGrp="1"/>
          </p:cNvSpPr>
          <p:nvPr>
            <p:ph type="body" idx="1"/>
          </p:nvPr>
        </p:nvSpPr>
        <p:spPr>
          <a:xfrm xmlns:a="http://schemas.openxmlformats.org/drawingml/2006/main">
            <a:off x="3460044" y="2314222"/>
            <a:ext cx="9335912" cy="4515556"/>
          </a:xfrm>
          <a:prstGeom xmlns:a="http://schemas.openxmlformats.org/drawingml/2006/main" prst="rect">
            <a:avLst/>
          </a:prstGeom>
        </p:spPr>
        <p:txBody>
          <a:bodyPr xmlns:a="http://schemas.openxmlformats.org/drawingml/2006/main" anchor="ctr"/>
          <a:lstStyle xmlns:a="http://schemas.openxmlformats.org/drawingml/2006/main">
            <a:lvl1pPr marL="423333" indent="-423333" algn="l">
              <a:spcBef>
                <a:spcPts val="3900"/>
              </a:spcBef>
              <a:buSzPct val="125000"/>
              <a:buChar char="•"/>
              <a:defRPr sz="3200"/>
            </a:lvl1pPr>
            <a:lvl2pPr marL="1058333" indent="-423333" algn="l">
              <a:spcBef>
                <a:spcPts val="3900"/>
              </a:spcBef>
              <a:buSzPct val="125000"/>
              <a:buChar char="•"/>
              <a:defRPr sz="3200"/>
            </a:lvl2pPr>
            <a:lvl3pPr marL="1693333" indent="-423333"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94" name="Slide Number">
            <a:extLst xmlns:a="http://schemas.openxmlformats.org/drawingml/2006/main">
              <a:ext uri="{FF2B5EF4-FFF2-40B4-BE49-F238E27FC236}">
                <a16:creationId xmlns:a16="http://schemas.microsoft.com/office/drawing/2014/main" id="{EC8D8897-9452-4BA5-8CEB-0FA787581A3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1.xml><?xml version="1.0" encoding="utf-8"?>
<p:sldLayout xmlns:p="http://schemas.openxmlformats.org/presentationml/2006/main" showMasterSp="1" showMasterPhAnim="1">
  <p:cSld name="Photo - 3 Up">
    <p:spTree>
      <p:nvGrpSpPr>
        <p:cNvPr id="1" name=""/>
        <p:cNvGrpSpPr/>
        <p:nvPr/>
      </p:nvGrpSpPr>
      <p:grpSpPr>
        <a:xfrm xmlns:a="http://schemas.openxmlformats.org/drawingml/2006/main"/>
      </p:grpSpPr>
      <p:sp>
        <p:nvSpPr>
          <p:cNvPr id="101" name="Close-up of an orange flower surrounded by large tropical leaves">
            <a:extLst xmlns:a="http://schemas.openxmlformats.org/drawingml/2006/main">
              <a:ext uri="{FF2B5EF4-FFF2-40B4-BE49-F238E27FC236}">
                <a16:creationId xmlns:a16="http://schemas.microsoft.com/office/drawing/2014/main" id="{5F7DAE51-BCCE-4D96-97D7-C188F3BDAB2E}"/>
              </a:ext>
            </a:extLst>
          </p:cNvPr>
          <p:cNvSpPr>
            <a:spLocks xmlns:a="http://schemas.openxmlformats.org/drawingml/2006/main" noGrp="1"/>
          </p:cNvSpPr>
          <p:nvPr>
            <p:ph type="pic" idx="21"/>
          </p:nvPr>
        </p:nvSpPr>
        <p:spPr>
          <a:xfrm xmlns:a="http://schemas.openxmlformats.org/drawingml/2006/main">
            <a:off x="9505834" y="4577644"/>
            <a:ext cx="3707221" cy="2466623"/>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02" name="Close-up of a red-eyed tree frog perched on a leaf">
            <a:extLst xmlns:a="http://schemas.openxmlformats.org/drawingml/2006/main">
              <a:ext uri="{FF2B5EF4-FFF2-40B4-BE49-F238E27FC236}">
                <a16:creationId xmlns:a16="http://schemas.microsoft.com/office/drawing/2014/main" id="{F1F56C22-97B4-4EEC-AE0D-891D906638AF}"/>
              </a:ext>
            </a:extLst>
          </p:cNvPr>
          <p:cNvSpPr>
            <a:spLocks xmlns:a="http://schemas.openxmlformats.org/drawingml/2006/main" noGrp="1"/>
          </p:cNvSpPr>
          <p:nvPr>
            <p:ph type="pic" idx="22"/>
          </p:nvPr>
        </p:nvSpPr>
        <p:spPr>
          <a:xfrm xmlns:a="http://schemas.openxmlformats.org/drawingml/2006/main">
            <a:off x="9313333" y="1947333"/>
            <a:ext cx="3699934" cy="2466623"/>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03" name="River flowing through a tropical forest">
            <a:extLst xmlns:a="http://schemas.openxmlformats.org/drawingml/2006/main">
              <a:ext uri="{FF2B5EF4-FFF2-40B4-BE49-F238E27FC236}">
                <a16:creationId xmlns:a16="http://schemas.microsoft.com/office/drawing/2014/main" id="{D7C47B34-288E-4B47-B7A7-DA8791078D7A}"/>
              </a:ext>
            </a:extLst>
          </p:cNvPr>
          <p:cNvSpPr>
            <a:spLocks xmlns:a="http://schemas.openxmlformats.org/drawingml/2006/main" noGrp="1"/>
          </p:cNvSpPr>
          <p:nvPr>
            <p:ph type="pic" idx="23"/>
          </p:nvPr>
        </p:nvSpPr>
        <p:spPr>
          <a:xfrm xmlns:a="http://schemas.openxmlformats.org/drawingml/2006/main">
            <a:off x="2998772" y="1947333"/>
            <a:ext cx="6792767" cy="5096934"/>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04" name="Slide Number">
            <a:extLst xmlns:a="http://schemas.openxmlformats.org/drawingml/2006/main">
              <a:ext uri="{FF2B5EF4-FFF2-40B4-BE49-F238E27FC236}">
                <a16:creationId xmlns:a16="http://schemas.microsoft.com/office/drawing/2014/main" id="{ED25BD7F-E71A-4754-89BE-9E99329E1F50}"/>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2.xml><?xml version="1.0" encoding="utf-8"?>
<p:sldLayout xmlns:p="http://schemas.openxmlformats.org/presentationml/2006/main" showMasterSp="1" showMasterPhAnim="1">
  <p:cSld name="Quote">
    <p:spTree>
      <p:nvGrpSpPr>
        <p:cNvPr id="1" name=""/>
        <p:cNvGrpSpPr/>
        <p:nvPr/>
      </p:nvGrpSpPr>
      <p:grpSpPr>
        <a:xfrm xmlns:a="http://schemas.openxmlformats.org/drawingml/2006/main"/>
      </p:grpSpPr>
      <p:sp>
        <p:nvSpPr>
          <p:cNvPr id="111" name="–Johnny Appleseed">
            <a:extLst xmlns:a="http://schemas.openxmlformats.org/drawingml/2006/main">
              <a:ext uri="{FF2B5EF4-FFF2-40B4-BE49-F238E27FC236}">
                <a16:creationId xmlns:a16="http://schemas.microsoft.com/office/drawing/2014/main" id="{56EF2569-7BA9-4030-A1FF-1B3CC9A5779E}"/>
              </a:ext>
            </a:extLst>
          </p:cNvPr>
          <p:cNvSpPr>
            <a:spLocks xmlns:a="http://schemas.openxmlformats.org/drawingml/2006/main" noGrp="1"/>
          </p:cNvSpPr>
          <p:nvPr>
            <p:ph type="body" idx="21"/>
          </p:nvPr>
        </p:nvSpPr>
        <p:spPr>
          <a:xfrm xmlns:a="http://schemas.openxmlformats.org/drawingml/2006/main">
            <a:off x="3770488" y="5503333"/>
            <a:ext cx="8720668" cy="342844"/>
          </a:xfrm>
          <a:prstGeom xmlns:a="http://schemas.openxmlformats.org/drawingml/2006/main" prst="rect">
            <a:avLst/>
          </a:prstGeom>
        </p:spPr>
        <p:txBody>
          <a:bodyPr xmlns:a="http://schemas.openxmlformats.org/drawingml/2006/main">
            <a:spAutoFit/>
          </a:bodyPr>
          <a:lstStyle xmlns:a="http://schemas.openxmlformats.org/drawingml/2006/main">
            <a:lvl1pPr>
              <a:buNone/>
              <a:defRPr sz="2000" i="1"/>
            </a:lvl1pPr>
          </a:lstStyle>
          <a:p xmlns:a="http://schemas.openxmlformats.org/drawingml/2006/main">
            <a:pPr>
              <a:buNone/>
            </a:pPr>
            <a:r>
              <a:t>–Johnny Appleseed</a:t>
            </a:r>
          </a:p>
        </p:txBody>
      </p:sp>
      <p:sp>
        <p:nvSpPr>
          <p:cNvPr id="112" name="“Type a quote here.”">
            <a:extLst xmlns:a="http://schemas.openxmlformats.org/drawingml/2006/main">
              <a:ext uri="{FF2B5EF4-FFF2-40B4-BE49-F238E27FC236}">
                <a16:creationId xmlns:a16="http://schemas.microsoft.com/office/drawing/2014/main" id="{7B88A67C-79E2-4EF4-9709-CB6471607B0A}"/>
              </a:ext>
            </a:extLst>
          </p:cNvPr>
          <p:cNvSpPr>
            <a:spLocks xmlns:a="http://schemas.openxmlformats.org/drawingml/2006/main" noGrp="1"/>
          </p:cNvSpPr>
          <p:nvPr>
            <p:ph type="body" idx="22"/>
          </p:nvPr>
        </p:nvSpPr>
        <p:spPr>
          <a:xfrm xmlns:a="http://schemas.openxmlformats.org/drawingml/2006/main">
            <a:off x="3770488" y="4143977"/>
            <a:ext cx="8720668" cy="528668"/>
          </a:xfrm>
          <a:prstGeom xmlns:a="http://schemas.openxmlformats.org/drawingml/2006/main" prst="rect">
            <a:avLst/>
          </a:prstGeom>
        </p:spPr>
        <p:txBody>
          <a:bodyPr xmlns:a="http://schemas.openxmlformats.org/drawingml/2006/main" anchor="ctr">
            <a:spAutoFit/>
          </a:bodyPr>
          <a:lstStyle xmlns:a="http://schemas.openxmlformats.org/drawingml/2006/main">
            <a:lvl1pPr>
              <a:buNone/>
              <a:defRPr sz="3200">
                <a:latin typeface="+mn-lt"/>
                <a:ea typeface="+mn-lt"/>
                <a:cs typeface="+mn-lt"/>
              </a:defRPr>
            </a:lvl1pPr>
          </a:lstStyle>
          <a:p xmlns:a="http://schemas.openxmlformats.org/drawingml/2006/main">
            <a:pPr>
              <a:buNone/>
            </a:pPr>
            <a:r>
              <a:t>“Type a quote here.” </a:t>
            </a:r>
          </a:p>
        </p:txBody>
      </p:sp>
      <p:sp>
        <p:nvSpPr>
          <p:cNvPr id="113" name="Slide Number">
            <a:extLst xmlns:a="http://schemas.openxmlformats.org/drawingml/2006/main">
              <a:ext uri="{FF2B5EF4-FFF2-40B4-BE49-F238E27FC236}">
                <a16:creationId xmlns:a16="http://schemas.microsoft.com/office/drawing/2014/main" id="{74F947D5-B05E-4822-90FC-095A82368354}"/>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3.xml><?xml version="1.0" encoding="utf-8"?>
<p:sldLayout xmlns:p="http://schemas.openxmlformats.org/presentationml/2006/main" showMasterSp="1" showMasterPhAnim="1">
  <p:cSld name="Photo">
    <p:spTree>
      <p:nvGrpSpPr>
        <p:cNvPr id="1" name=""/>
        <p:cNvGrpSpPr/>
        <p:nvPr/>
      </p:nvGrpSpPr>
      <p:grpSpPr>
        <a:xfrm xmlns:a="http://schemas.openxmlformats.org/drawingml/2006/main"/>
      </p:grpSpPr>
      <p:sp>
        <p:nvSpPr>
          <p:cNvPr id="120" name="river flowing through a tropical forest">
            <a:extLst xmlns:a="http://schemas.openxmlformats.org/drawingml/2006/main">
              <a:ext uri="{FF2B5EF4-FFF2-40B4-BE49-F238E27FC236}">
                <a16:creationId xmlns:a16="http://schemas.microsoft.com/office/drawing/2014/main" id="{0596AED4-5BAD-4E76-B67B-251A31806394}"/>
              </a:ext>
            </a:extLst>
          </p:cNvPr>
          <p:cNvSpPr>
            <a:spLocks xmlns:a="http://schemas.openxmlformats.org/drawingml/2006/main" noGrp="1"/>
          </p:cNvSpPr>
          <p:nvPr>
            <p:ph type="pic" idx="21"/>
          </p:nvPr>
        </p:nvSpPr>
        <p:spPr>
          <a:xfrm xmlns:a="http://schemas.openxmlformats.org/drawingml/2006/main">
            <a:off x="2709333" y="506118"/>
            <a:ext cx="10837334" cy="8131764"/>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21" name="Slide Number">
            <a:extLst xmlns:a="http://schemas.openxmlformats.org/drawingml/2006/main">
              <a:ext uri="{FF2B5EF4-FFF2-40B4-BE49-F238E27FC236}">
                <a16:creationId xmlns:a16="http://schemas.microsoft.com/office/drawing/2014/main" id="{1D9FBEC2-D087-4217-980B-C3BA30576BC7}"/>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4.xml><?xml version="1.0" encoding="utf-8"?>
<p:sldLayout xmlns:p="http://schemas.openxmlformats.org/presentationml/2006/main" showMasterSp="1" showMasterPhAnim="1">
  <p:cSld name="Blank">
    <p:spTree>
      <p:nvGrpSpPr>
        <p:cNvPr id="1" name=""/>
        <p:cNvGrpSpPr/>
        <p:nvPr/>
      </p:nvGrpSpPr>
      <p:grpSpPr>
        <a:xfrm xmlns:a="http://schemas.openxmlformats.org/drawingml/2006/main"/>
      </p:grpSpPr>
      <p:sp>
        <p:nvSpPr>
          <p:cNvPr id="128" name="Slide Number">
            <a:extLst xmlns:a="http://schemas.openxmlformats.org/drawingml/2006/main">
              <a:ext uri="{FF2B5EF4-FFF2-40B4-BE49-F238E27FC236}">
                <a16:creationId xmlns:a16="http://schemas.microsoft.com/office/drawing/2014/main" id="{7A54C2E6-C453-49BE-8B78-45321A4235D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2c7fdcee2d462c" /><Relationship Type="http://schemas.openxmlformats.org/officeDocument/2006/relationships/slideLayout" Target="/ppt/slideLayouts/slideLayout1.xml" Id="R54eb56751a8746e7" /><Relationship Type="http://schemas.openxmlformats.org/officeDocument/2006/relationships/slideLayout" Target="/ppt/slideLayouts/slideLayout2.xml" Id="R11cd41b92fc24338" /><Relationship Type="http://schemas.openxmlformats.org/officeDocument/2006/relationships/slideLayout" Target="/ppt/slideLayouts/slideLayout3.xml" Id="R589d28928b874c9a" /><Relationship Type="http://schemas.openxmlformats.org/officeDocument/2006/relationships/slideLayout" Target="/ppt/slideLayouts/slideLayout4.xml" Id="Ra305dc7ca8594b86" /><Relationship Type="http://schemas.openxmlformats.org/officeDocument/2006/relationships/slideLayout" Target="/ppt/slideLayouts/slideLayout5.xml" Id="R9497090c2f714005" /><Relationship Type="http://schemas.openxmlformats.org/officeDocument/2006/relationships/slideLayout" Target="/ppt/slideLayouts/slideLayout6.xml" Id="R179697e37b154729" /><Relationship Type="http://schemas.openxmlformats.org/officeDocument/2006/relationships/slideLayout" Target="/ppt/slideLayouts/slideLayout7.xml" Id="Ra1ee3f020f0f4e96" /><Relationship Type="http://schemas.openxmlformats.org/officeDocument/2006/relationships/slideLayout" Target="/ppt/slideLayouts/slideLayout8.xml" Id="R305607c2cb8a40d6" /><Relationship Type="http://schemas.openxmlformats.org/officeDocument/2006/relationships/slideLayout" Target="/ppt/slideLayouts/slideLayout9.xml" Id="Rd9f2586c66764593" /><Relationship Type="http://schemas.openxmlformats.org/officeDocument/2006/relationships/slideLayout" Target="/ppt/slideLayouts/slideLayout10.xml" Id="Rf372c49b0c43450e" /><Relationship Type="http://schemas.openxmlformats.org/officeDocument/2006/relationships/slideLayout" Target="/ppt/slideLayouts/slideLayout11.xml" Id="Rfff017b014fc40d4" /><Relationship Type="http://schemas.openxmlformats.org/officeDocument/2006/relationships/slideLayout" Target="/ppt/slideLayouts/slideLayout12.xml" Id="R1feac3d1a5b44bb8" /><Relationship Type="http://schemas.openxmlformats.org/officeDocument/2006/relationships/slideLayout" Target="/ppt/slideLayouts/slideLayout13.xml" Id="R6ba7054a47b949a0" /><Relationship Type="http://schemas.openxmlformats.org/officeDocument/2006/relationships/slideLayout" Target="/ppt/slideLayouts/slideLayout14.xml" Id="R9742119d1711439d" /></Relationships>
</file>

<file path=ppt/slideMasters/slideMaster1.xml><?xml version="1.0" encoding="utf-8"?>
<p:sldMaster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Title Text">
            <a:extLst xmlns:a="http://schemas.openxmlformats.org/drawingml/2006/main">
              <a:ext uri="{FF2B5EF4-FFF2-40B4-BE49-F238E27FC236}">
                <a16:creationId xmlns:a16="http://schemas.microsoft.com/office/drawing/2014/main" id="{F50F1A88-5C35-41C6-9BEB-0477EE2622FC}"/>
              </a:ext>
            </a:extLst>
          </p:cNvPr>
          <p:cNvSpPr>
            <a:spLocks xmlns:a="http://schemas.openxmlformats.org/drawingml/2006/main" noGrp="1"/>
          </p:cNvSpPr>
          <p:nvPr>
            <p:ph type="title" idx="0"/>
          </p:nvPr>
        </p:nvSpPr>
        <p:spPr>
          <a:xfrm xmlns:a="http://schemas.openxmlformats.org/drawingml/2006/main">
            <a:off x="3499555" y="2545644"/>
            <a:ext cx="9256890" cy="2065868"/>
          </a:xfrm>
          <a:prstGeom xmlns:a="http://schemas.openxmlformats.org/drawingml/2006/main" prst="rect">
            <a:avLst/>
          </a:prstGeom>
          <a:ln xmlns:a="http://schemas.openxmlformats.org/drawingml/2006/main" w="3175"/>
        </p:spPr>
        <p:txBody>
          <a:bodyPr xmlns:a="http://schemas.openxmlformats.org/drawingml/2006/main" lIns="22577" tIns="22577" rIns="22577" bIns="22577" anchor="b">
            <a:normAutofit fontScale="100000" lnSpcReduction="0"/>
          </a:bodyPr>
          <a:lstStyle xmlns:a="http://schemas.openxmlformats.org/drawingml/2006/main"/>
          <a:p xmlns:a="http://schemas.openxmlformats.org/drawingml/2006/main">
            <a:pPr>
              <a:buNone/>
            </a:pPr>
            <a:r>
              <a:t>Title Text</a:t>
            </a:r>
          </a:p>
        </p:txBody>
      </p:sp>
      <p:sp>
        <p:nvSpPr>
          <p:cNvPr id="3" name="Body Level One…">
            <a:extLst xmlns:a="http://schemas.openxmlformats.org/drawingml/2006/main">
              <a:ext uri="{FF2B5EF4-FFF2-40B4-BE49-F238E27FC236}">
                <a16:creationId xmlns:a16="http://schemas.microsoft.com/office/drawing/2014/main" id="{516AF4AE-D5F3-4660-935D-8C6A896582A4}"/>
              </a:ext>
            </a:extLst>
          </p:cNvPr>
          <p:cNvSpPr>
            <a:spLocks xmlns:a="http://schemas.openxmlformats.org/drawingml/2006/main" noGrp="1"/>
          </p:cNvSpPr>
          <p:nvPr>
            <p:ph type="body" idx="1"/>
          </p:nvPr>
        </p:nvSpPr>
        <p:spPr>
          <a:xfrm xmlns:a="http://schemas.openxmlformats.org/drawingml/2006/main">
            <a:off x="3499555" y="4667955"/>
            <a:ext cx="9256890" cy="705557"/>
          </a:xfrm>
          <a:prstGeom xmlns:a="http://schemas.openxmlformats.org/drawingml/2006/main" prst="rect">
            <a:avLst/>
          </a:prstGeom>
          <a:ln xmlns:a="http://schemas.openxmlformats.org/drawingml/2006/main" w="3175"/>
        </p:spPr>
        <p:txBody>
          <a:bodyPr xmlns:a="http://schemas.openxmlformats.org/drawingml/2006/main" lIns="22577" tIns="22577" rIns="22577" bIns="22577">
            <a:normAutofit fontScale="100000" lnSpcReduction="0"/>
          </a:bodyPr>
          <a:lstStyle xmlns:a="http://schemas.openxmlformats.org/drawingml/2006/main"/>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4" name="Slide Number">
            <a:extLst xmlns:a="http://schemas.openxmlformats.org/drawingml/2006/main">
              <a:ext uri="{FF2B5EF4-FFF2-40B4-BE49-F238E27FC236}">
                <a16:creationId xmlns:a16="http://schemas.microsoft.com/office/drawing/2014/main" id="{8E7DC223-75A0-48B1-A611-16B441D8ECF1}"/>
              </a:ext>
            </a:extLst>
          </p:cNvPr>
          <p:cNvSpPr>
            <a:spLocks xmlns:a="http://schemas.openxmlformats.org/drawingml/2006/main" noGrp="1"/>
          </p:cNvSpPr>
          <p:nvPr>
            <p:ph type="sldNum" idx="2"/>
          </p:nvPr>
        </p:nvSpPr>
        <p:spPr>
          <a:xfrm xmlns:a="http://schemas.openxmlformats.org/drawingml/2006/main">
            <a:off x="7983270" y="7337777"/>
            <a:ext cx="283815" cy="267863"/>
          </a:xfrm>
          <a:prstGeom xmlns:a="http://schemas.openxmlformats.org/drawingml/2006/main" prst="rect">
            <a:avLst/>
          </a:prstGeom>
          <a:ln xmlns:a="http://schemas.openxmlformats.org/drawingml/2006/main" w="3175"/>
        </p:spPr>
        <p:txBody>
          <a:bodyPr xmlns:a="http://schemas.openxmlformats.org/drawingml/2006/main" wrap="none" lIns="22577" tIns="22577" rIns="22577" bIns="22577">
            <a:spAutoFit/>
          </a:bodyPr>
          <a:lstStyle xmlns:a="http://schemas.openxmlformats.org/drawingml/2006/main">
            <a:lvl1pPr algn="ctr">
              <a:spcBef>
                <a:spcPts val="0"/>
              </a:spcBef>
              <a:buNone/>
              <a:defRPr sz="1600">
                <a:latin typeface="Helvetica Neue Light"/>
                <a:ea typeface="Helvetica Neue Light"/>
                <a:cs typeface="Helvetica Neue Light"/>
              </a:defRPr>
            </a:lvl1pPr>
          </a:lstStyle>
          <a:p xmlns:a="http://schemas.openxmlformats.org/drawingml/2006/main">
            <a:pPr>
              <a:buNone/>
            </a:pPr>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4eb56751a8746e7"/>
    <p:sldLayoutId xmlns:r="http://schemas.openxmlformats.org/officeDocument/2006/relationships" id="2147483650" r:id="R11cd41b92fc24338"/>
    <p:sldLayoutId xmlns:r="http://schemas.openxmlformats.org/officeDocument/2006/relationships" id="2147483651" r:id="R589d28928b874c9a"/>
    <p:sldLayoutId xmlns:r="http://schemas.openxmlformats.org/officeDocument/2006/relationships" id="2147483652" r:id="Ra305dc7ca8594b86"/>
    <p:sldLayoutId xmlns:r="http://schemas.openxmlformats.org/officeDocument/2006/relationships" id="2147483653" r:id="R9497090c2f714005"/>
    <p:sldLayoutId xmlns:r="http://schemas.openxmlformats.org/officeDocument/2006/relationships" id="2147483654" r:id="R179697e37b154729"/>
    <p:sldLayoutId xmlns:r="http://schemas.openxmlformats.org/officeDocument/2006/relationships" id="2147483655" r:id="Ra1ee3f020f0f4e96"/>
    <p:sldLayoutId xmlns:r="http://schemas.openxmlformats.org/officeDocument/2006/relationships" id="2147483656" r:id="R305607c2cb8a40d6"/>
    <p:sldLayoutId xmlns:r="http://schemas.openxmlformats.org/officeDocument/2006/relationships" id="2147483657" r:id="Rd9f2586c66764593"/>
    <p:sldLayoutId xmlns:r="http://schemas.openxmlformats.org/officeDocument/2006/relationships" id="2147483658" r:id="Rf372c49b0c43450e"/>
    <p:sldLayoutId xmlns:r="http://schemas.openxmlformats.org/officeDocument/2006/relationships" id="2147483659" r:id="Rfff017b014fc40d4"/>
    <p:sldLayoutId xmlns:r="http://schemas.openxmlformats.org/officeDocument/2006/relationships" id="2147483660" r:id="R1feac3d1a5b44bb8"/>
    <p:sldLayoutId xmlns:r="http://schemas.openxmlformats.org/officeDocument/2006/relationships" id="2147483661" r:id="R6ba7054a47b949a0"/>
    <p:sldLayoutId xmlns:r="http://schemas.openxmlformats.org/officeDocument/2006/relationships" id="2147483662" r:id="R9742119d1711439d"/>
  </p:sldLayoutIdLst>
  <p:txStyles>
    <p:titleStyle>
      <a:lvl1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1pPr>
      <a:lvl2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2pPr>
      <a:lvl3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3pPr>
      <a:lvl4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4pPr>
      <a:lvl5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5pPr>
      <a:lvl6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6pPr>
      <a:lvl7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7pPr>
      <a:lvl8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8pPr>
      <a:lvl9pPr xmlns:a="http://schemas.openxmlformats.org/drawingml/2006/main" marL="0" marR="0" indent="0" algn="ctr" defTabSz="550333">
        <a:lnSpc>
          <a:spcPct val="100000"/>
        </a:lnSpc>
        <a:spcBef>
          <a:spcPts val="0"/>
        </a:spcBef>
        <a:spcAft>
          <a:spcPts val="0"/>
        </a:spcAft>
        <a:buClrTx/>
        <a:buSzTx/>
        <a:buFontTx/>
        <a:buNone/>
        <a:defRPr sz="7400" b="0" i="0" u="none" cap="none" spc="0" baseline="0">
          <a:solidFill>
            <a:srgbClr val="FFFFFF"/>
          </a:solidFill>
          <a:latin typeface="+mn-lt"/>
          <a:ea typeface="+mn-lt"/>
          <a:cs typeface="+mn-lt"/>
        </a:defRPr>
      </a:lvl9pPr>
    </p:titleStyle>
    <p:bodyStyle>
      <a:lvl1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1pPr>
      <a:lvl2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2pPr>
      <a:lvl3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3pPr>
      <a:lvl4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4pPr>
      <a:lvl5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5pPr>
      <a:lvl6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6pPr>
      <a:lvl7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7pPr>
      <a:lvl8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8pPr>
      <a:lvl9pPr xmlns:a="http://schemas.openxmlformats.org/drawingml/2006/main" marL="0" marR="0" indent="0" algn="ctr" defTabSz="550333">
        <a:lnSpc>
          <a:spcPct val="100000"/>
        </a:lnSpc>
        <a:spcBef>
          <a:spcPts val="0"/>
        </a:spcBef>
        <a:spcAft>
          <a:spcPts val="0"/>
        </a:spcAft>
        <a:buClrTx/>
        <a:buSzTx/>
        <a:buFontTx/>
        <a:buNone/>
        <a:defRPr sz="3600" b="0" i="0" u="none" cap="none" spc="0" baseline="0">
          <a:solidFill>
            <a:srgbClr val="FFFFFF"/>
          </a:solidFill>
          <a:latin typeface="Helvetica Neue"/>
          <a:ea typeface="Helvetica Neue"/>
          <a:cs typeface="Helvetica Neue"/>
        </a:defRPr>
      </a:lvl9pPr>
    </p:bodyStyle>
    <p:otherStyle>
      <a:lvl1pPr xmlns:a="http://schemas.openxmlformats.org/drawingml/2006/main" marL="0" marR="0" indent="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1pPr>
      <a:lvl2pPr xmlns:a="http://schemas.openxmlformats.org/drawingml/2006/main" marL="0" marR="0" indent="2286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2pPr>
      <a:lvl3pPr xmlns:a="http://schemas.openxmlformats.org/drawingml/2006/main" marL="0" marR="0" indent="4572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3pPr>
      <a:lvl4pPr xmlns:a="http://schemas.openxmlformats.org/drawingml/2006/main" marL="0" marR="0" indent="6858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4pPr>
      <a:lvl5pPr xmlns:a="http://schemas.openxmlformats.org/drawingml/2006/main" marL="0" marR="0" indent="9144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5pPr>
      <a:lvl6pPr xmlns:a="http://schemas.openxmlformats.org/drawingml/2006/main" marL="0" marR="0" indent="11430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6pPr>
      <a:lvl7pPr xmlns:a="http://schemas.openxmlformats.org/drawingml/2006/main" marL="0" marR="0" indent="13716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7pPr>
      <a:lvl8pPr xmlns:a="http://schemas.openxmlformats.org/drawingml/2006/main" marL="0" marR="0" indent="16002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8pPr>
      <a:lvl9pPr xmlns:a="http://schemas.openxmlformats.org/drawingml/2006/main" marL="0" marR="0" indent="1828800" algn="ctr" defTabSz="550333">
        <a:lnSpc>
          <a:spcPct val="100000"/>
        </a:lnSpc>
        <a:spcBef>
          <a:spcPts val="0"/>
        </a:spcBef>
        <a:spcAft>
          <a:spcPts val="0"/>
        </a:spcAft>
        <a:buClrTx/>
        <a:buSzTx/>
        <a:buFontTx/>
        <a:buNone/>
        <a:defRPr sz="16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B39A6A"/>
      </a:hlink>
      <a:folHlink>
        <a:srgbClr val="B39A6A"/>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5f4ed4cc49d2498a" /><Relationship Type="http://schemas.openxmlformats.org/officeDocument/2006/relationships/image" Target="/ppt/media/image.png" Id="Rc4c49cf5a7244928" /><Relationship Type="http://schemas.openxmlformats.org/officeDocument/2006/relationships/notesSlide" Target="/ppt/notesSlides/notesSlide1.xml" Id="R67bfe013c8964f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4.xml" Id="R7ed3f6dc799445a1" /><Relationship Type="http://schemas.openxmlformats.org/officeDocument/2006/relationships/notesSlide" Target="/ppt/notesSlides/notesSlide2.xml" Id="Re1370b9cf36643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4.xml" Id="R0f803430d7a440e4" /><Relationship Type="http://schemas.openxmlformats.org/officeDocument/2006/relationships/notesSlide" Target="/ppt/notesSlides/notesSlide3.xml" Id="R0896c1e2d29741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4.xml" Id="Rf000366365d346db" /><Relationship Type="http://schemas.openxmlformats.org/officeDocument/2006/relationships/image" Target="/ppt/media/image2.png" Id="Rccc2003c4da447e1" /><Relationship Type="http://schemas.openxmlformats.org/officeDocument/2006/relationships/notesSlide" Target="/ppt/notesSlides/notesSlide4.xml" Id="Rd52f8e5b0e1040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4.xml" Id="Rbb5fac511d17442d" /><Relationship Type="http://schemas.openxmlformats.org/officeDocument/2006/relationships/notesSlide" Target="/ppt/notesSlides/notesSlide5.xml" Id="Rd21f3234d71849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4.xml" Id="Rcd3274885d2243bf" /><Relationship Type="http://schemas.openxmlformats.org/officeDocument/2006/relationships/notesSlide" Target="/ppt/notesSlides/notesSlide6.xml" Id="Rf24b3c5f53d24e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4.xml" Id="Re9c7c6f2b4484f50" /><Relationship Type="http://schemas.openxmlformats.org/officeDocument/2006/relationships/notesSlide" Target="/ppt/notesSlides/notesSlide7.xml" Id="Rce04854a1a0e4b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4.xml" Id="R369eb04811344b3d" /><Relationship Type="http://schemas.openxmlformats.org/officeDocument/2006/relationships/notesSlide" Target="/ppt/notesSlides/notesSlide8.xml" Id="Rd6b6b0215a654b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4.xml" Id="R7db84402102b45b3" /><Relationship Type="http://schemas.openxmlformats.org/officeDocument/2006/relationships/notesSlide" Target="/ppt/notesSlides/notesSlide9.xml" Id="R732d4d93020642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4.xml" Id="R4eccba740deb4776" /><Relationship Type="http://schemas.openxmlformats.org/officeDocument/2006/relationships/notesSlide" Target="/ppt/notesSlides/notesSlide10.xml" Id="R28abf10e9b634d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4.xml" Id="R716b6ac94dbe4bd0" /><Relationship Type="http://schemas.openxmlformats.org/officeDocument/2006/relationships/notesSlide" Target="/ppt/notesSlides/notesSlide11.xml" Id="R0d0d518e031948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4.xml" Id="R1f70912ad545402f" /><Relationship Type="http://schemas.openxmlformats.org/officeDocument/2006/relationships/image" Target="/ppt/media/image.png" Id="Rdc3d3842dc4a4eb9" /><Relationship Type="http://schemas.openxmlformats.org/officeDocument/2006/relationships/hyperlink" Target="https://github.com/JaviChulvi/hype-radar" TargetMode="External" Id="R56bddfcc0613437d" /><Relationship Type="http://schemas.openxmlformats.org/officeDocument/2006/relationships/notesSlide" Target="/ppt/notesSlides/notesSlide12.xml" Id="Rb3bfee25a21e4861" /></Relationships>
</file>

<file path=ppt/slides/slide1.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pic>
        <p:nvPicPr>
          <p:cNvPr id="8" name="liquid-background.png"/>
          <p:cNvPicPr>
            <a:picLocks xmlns:a="http://schemas.openxmlformats.org/drawingml/2006/main" noChangeAspect="1"/>
          </p:cNvPicPr>
          <p:nvPr/>
        </p:nvPicPr>
        <p:blipFill>
          <a:blip xmlns:r="http://schemas.openxmlformats.org/officeDocument/2006/relationships" xmlns:a="http://schemas.openxmlformats.org/drawingml/2006/main" r:embed="Rc4c49cf5a724492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3" name="HYPE RADAR">
            <a:extLst xmlns:a="http://schemas.openxmlformats.org/drawingml/2006/main">
              <a:ext uri="{FF2B5EF4-FFF2-40B4-BE49-F238E27FC236}">
                <a16:creationId xmlns:a16="http://schemas.microsoft.com/office/drawing/2014/main" id="{43F8D01C-62D5-4DB0-97FD-678E2E433C15}"/>
              </a:ext>
            </a:extLst>
          </p:cNvPr>
          <p:cNvSpPr>
            <a:spLocks xmlns:a="http://schemas.openxmlformats.org/drawingml/2006/main" noGrp="1"/>
          </p:cNvSpPr>
          <p:nvPr/>
        </p:nvSpPr>
        <p:spPr>
          <a:xfrm xmlns:a="http://schemas.openxmlformats.org/drawingml/2006/main">
            <a:off x="685800" y="1819275"/>
            <a:ext cx="809625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7050" b="1">
                <a:solidFill>
                  <a:srgbClr val="E8E5DC"/>
                </a:solidFill>
                <a:latin typeface="Arial"/>
                <a:ea typeface="Arial"/>
                <a:cs typeface="Arial"/>
              </a:defRPr>
            </a:pPr>
            <a:r>
              <a:rPr sz="7050" b="1">
                <a:solidFill>
                  <a:srgbClr val="E8E5DC"/>
                </a:solidFill>
                <a:latin typeface="Arial"/>
                <a:ea typeface="Arial"/>
                <a:cs typeface="Arial"/>
              </a:rPr>
              <a:t>HYPE RADAR</a:t>
            </a:r>
          </a:p>
        </p:txBody>
      </p:sp>
      <p:sp>
        <p:nvSpPr>
          <p:cNvPr id="4" name="Alertas de mercado con evidencia">
            <a:extLst xmlns:a="http://schemas.openxmlformats.org/drawingml/2006/main">
              <a:ext uri="{FF2B5EF4-FFF2-40B4-BE49-F238E27FC236}">
                <a16:creationId xmlns:a16="http://schemas.microsoft.com/office/drawing/2014/main" id="{C73FB21F-4058-4B39-BD63-15415706E89B}"/>
              </a:ext>
            </a:extLst>
          </p:cNvPr>
          <p:cNvSpPr>
            <a:spLocks xmlns:a="http://schemas.openxmlformats.org/drawingml/2006/main" noGrp="1"/>
          </p:cNvSpPr>
          <p:nvPr/>
        </p:nvSpPr>
        <p:spPr>
          <a:xfrm xmlns:a="http://schemas.openxmlformats.org/drawingml/2006/main">
            <a:off x="723900" y="3190875"/>
            <a:ext cx="6762750" cy="139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900" b="0">
                <a:solidFill>
                  <a:srgbClr val="E8E5DC"/>
                </a:solidFill>
                <a:latin typeface="Arial"/>
                <a:ea typeface="Arial"/>
                <a:cs typeface="Arial"/>
              </a:defRPr>
            </a:pPr>
            <a:r>
              <a:rPr sz="3900" b="0">
                <a:solidFill>
                  <a:srgbClr val="E8E5DC"/>
                </a:solidFill>
                <a:latin typeface="Arial"/>
                <a:ea typeface="Arial"/>
                <a:cs typeface="Arial"/>
              </a:rPr>
              <a:t>Alertas de mercado
con evidencia</a:t>
            </a:r>
          </a:p>
        </p:txBody>
      </p:sp>
      <p:sp>
        <p:nvSpPr>
          <p:cNvPr id="5" name="FinTech multimodal para Hyperliquid">
            <a:extLst xmlns:a="http://schemas.openxmlformats.org/drawingml/2006/main">
              <a:ext uri="{FF2B5EF4-FFF2-40B4-BE49-F238E27FC236}">
                <a16:creationId xmlns:a16="http://schemas.microsoft.com/office/drawing/2014/main" id="{021734F3-EE18-4761-8CD7-5AA75DE24C47}"/>
              </a:ext>
            </a:extLst>
          </p:cNvPr>
          <p:cNvSpPr>
            <a:spLocks xmlns:a="http://schemas.openxmlformats.org/drawingml/2006/main" noGrp="1"/>
          </p:cNvSpPr>
          <p:nvPr/>
        </p:nvSpPr>
        <p:spPr>
          <a:xfrm xmlns:a="http://schemas.openxmlformats.org/drawingml/2006/main">
            <a:off x="742950" y="5467350"/>
            <a:ext cx="7810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00" b="0">
                <a:solidFill>
                  <a:srgbClr val="B39A6A"/>
                </a:solidFill>
                <a:latin typeface="Arial"/>
                <a:ea typeface="Arial"/>
                <a:cs typeface="Arial"/>
              </a:defRPr>
            </a:pPr>
            <a:r>
              <a:rPr sz="2100" b="0">
                <a:solidFill>
                  <a:srgbClr val="B39A6A"/>
                </a:solidFill>
                <a:latin typeface="Arial"/>
                <a:ea typeface="Arial"/>
                <a:cs typeface="Arial"/>
              </a:rPr>
              <a:t>FinTech multimodal para Hyperliquid</a:t>
            </a:r>
          </a:p>
        </p:txBody>
      </p:sp>
      <p:sp>
        <p:nvSpPr>
          <p:cNvPr id="6" name="Número de diapositiva">
            <a:extLst xmlns:a="http://schemas.openxmlformats.org/drawingml/2006/main">
              <a:ext uri="{FF2B5EF4-FFF2-40B4-BE49-F238E27FC236}">
                <a16:creationId xmlns:a16="http://schemas.microsoft.com/office/drawing/2014/main" id="{526ED702-B062-490D-A05F-89443625177D}"/>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1</a:t>
            </a:r>
          </a:p>
        </p:txBody>
      </p:sp>
    </p:spTree>
    <p:extLst>
      <p:ext uri="{BB962C8B-B14F-4D97-AF65-F5344CB8AC3E}">
        <p14:creationId xmlns:p14="http://schemas.microsoft.com/office/powerpoint/2010/main" val="1042681035"/>
      </p:ext>
    </p:extLst>
  </p:cSld>
</p:sld>
</file>

<file path=ppt/slides/slide2.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El coste de vigilar el mercado">
            <a:extLst xmlns:a="http://schemas.openxmlformats.org/drawingml/2006/main">
              <a:ext uri="{FF2B5EF4-FFF2-40B4-BE49-F238E27FC236}">
                <a16:creationId xmlns:a16="http://schemas.microsoft.com/office/drawing/2014/main" id="{B68B95D2-8296-4099-8569-38724255DA28}"/>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El coste de vigilar el mercado</a:t>
            </a:r>
          </a:p>
        </p:txBody>
      </p:sp>
      <p:sp>
        <p:nvSpPr>
          <p:cNvPr id="3" name="Una condición combina varias señales de mercado">
            <a:extLst xmlns:a="http://schemas.openxmlformats.org/drawingml/2006/main">
              <a:ext uri="{FF2B5EF4-FFF2-40B4-BE49-F238E27FC236}">
                <a16:creationId xmlns:a16="http://schemas.microsoft.com/office/drawing/2014/main" id="{182FFE6E-12D1-4C65-B4A6-1A38C6CE9D9D}"/>
              </a:ext>
            </a:extLst>
          </p:cNvPr>
          <p:cNvSpPr>
            <a:spLocks xmlns:a="http://schemas.openxmlformats.org/drawingml/2006/main" noGrp="1"/>
          </p:cNvSpPr>
          <p:nvPr/>
        </p:nvSpPr>
        <p:spPr>
          <a:xfrm xmlns:a="http://schemas.openxmlformats.org/drawingml/2006/main">
            <a:off x="704850" y="2143125"/>
            <a:ext cx="58102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150" b="1">
                <a:solidFill>
                  <a:srgbClr val="E8E5DC"/>
                </a:solidFill>
                <a:latin typeface="Arial"/>
                <a:ea typeface="Arial"/>
                <a:cs typeface="Arial"/>
              </a:defRPr>
            </a:pPr>
            <a:r>
              <a:rPr sz="3150" b="1">
                <a:solidFill>
                  <a:srgbClr val="E8E5DC"/>
                </a:solidFill>
                <a:latin typeface="Arial"/>
                <a:ea typeface="Arial"/>
                <a:cs typeface="Arial"/>
              </a:rPr>
              <a:t>Una condición combina
varias señales de mercado</a:t>
            </a:r>
          </a:p>
        </p:txBody>
      </p:sp>
      <p:sp>
        <p:nvSpPr>
          <p:cNvPr id="4" name="Precio, interés abierto, funding y condiciones del libro de órdenes">
            <a:extLst xmlns:a="http://schemas.openxmlformats.org/drawingml/2006/main">
              <a:ext uri="{FF2B5EF4-FFF2-40B4-BE49-F238E27FC236}">
                <a16:creationId xmlns:a16="http://schemas.microsoft.com/office/drawing/2014/main" id="{9BC69BFB-463E-46E9-890A-645DACF55EE2}"/>
              </a:ext>
            </a:extLst>
          </p:cNvPr>
          <p:cNvSpPr>
            <a:spLocks xmlns:a="http://schemas.openxmlformats.org/drawingml/2006/main" noGrp="1"/>
          </p:cNvSpPr>
          <p:nvPr/>
        </p:nvSpPr>
        <p:spPr>
          <a:xfrm xmlns:a="http://schemas.openxmlformats.org/drawingml/2006/main">
            <a:off x="704850" y="3486150"/>
            <a:ext cx="55245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B5B1A8"/>
                </a:solidFill>
                <a:latin typeface="Arial"/>
                <a:ea typeface="Arial"/>
                <a:cs typeface="Arial"/>
              </a:defRPr>
            </a:pPr>
            <a:r>
              <a:rPr sz="2175" b="0">
                <a:solidFill>
                  <a:srgbClr val="B5B1A8"/>
                </a:solidFill>
                <a:latin typeface="Arial"/>
                <a:ea typeface="Arial"/>
                <a:cs typeface="Arial"/>
              </a:rPr>
              <a:t>Precio, interés abierto, funding
y condiciones del libro de órdenes</a:t>
            </a:r>
          </a:p>
        </p:txBody>
      </p:sp>
      <p:sp>
        <p:nvSpPr>
          <p:cNvPr id="5" name="Usuario inicial">
            <a:extLst xmlns:a="http://schemas.openxmlformats.org/drawingml/2006/main">
              <a:ext uri="{FF2B5EF4-FFF2-40B4-BE49-F238E27FC236}">
                <a16:creationId xmlns:a16="http://schemas.microsoft.com/office/drawing/2014/main" id="{1771EB28-8E5C-40F7-ACE0-147F158A24FF}"/>
              </a:ext>
            </a:extLst>
          </p:cNvPr>
          <p:cNvSpPr>
            <a:spLocks xmlns:a="http://schemas.openxmlformats.org/drawingml/2006/main" noGrp="1"/>
          </p:cNvSpPr>
          <p:nvPr/>
        </p:nvSpPr>
        <p:spPr>
          <a:xfrm xmlns:a="http://schemas.openxmlformats.org/drawingml/2006/main">
            <a:off x="7524750" y="2162175"/>
            <a:ext cx="3810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B39A6A"/>
                </a:solidFill>
                <a:latin typeface="Arial"/>
                <a:ea typeface="Arial"/>
                <a:cs typeface="Arial"/>
              </a:defRPr>
            </a:pPr>
            <a:r>
              <a:rPr sz="2175" b="1">
                <a:solidFill>
                  <a:srgbClr val="B39A6A"/>
                </a:solidFill>
                <a:latin typeface="Arial"/>
                <a:ea typeface="Arial"/>
                <a:cs typeface="Arial"/>
              </a:rPr>
              <a:t>Usuario inicial</a:t>
            </a:r>
          </a:p>
        </p:txBody>
      </p:sp>
      <p:sp>
        <p:nvSpPr>
          <p:cNvPr id="6" name="Trader activo de perpetuos en Hyperliquid que configura sus propios criterios">
            <a:extLst xmlns:a="http://schemas.openxmlformats.org/drawingml/2006/main">
              <a:ext uri="{FF2B5EF4-FFF2-40B4-BE49-F238E27FC236}">
                <a16:creationId xmlns:a16="http://schemas.microsoft.com/office/drawing/2014/main" id="{2A104444-BBA2-4F94-9BFF-363559FC6269}"/>
              </a:ext>
            </a:extLst>
          </p:cNvPr>
          <p:cNvSpPr>
            <a:spLocks xmlns:a="http://schemas.openxmlformats.org/drawingml/2006/main" noGrp="1"/>
          </p:cNvSpPr>
          <p:nvPr/>
        </p:nvSpPr>
        <p:spPr>
          <a:xfrm xmlns:a="http://schemas.openxmlformats.org/drawingml/2006/main">
            <a:off x="7524750" y="2847975"/>
            <a:ext cx="390525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0">
                <a:solidFill>
                  <a:srgbClr val="E8E5DC"/>
                </a:solidFill>
                <a:latin typeface="Arial"/>
                <a:ea typeface="Arial"/>
                <a:cs typeface="Arial"/>
              </a:defRPr>
            </a:pPr>
            <a:r>
              <a:rPr sz="2250" b="0">
                <a:solidFill>
                  <a:srgbClr val="E8E5DC"/>
                </a:solidFill>
                <a:latin typeface="Arial"/>
                <a:ea typeface="Arial"/>
                <a:cs typeface="Arial"/>
              </a:rPr>
              <a:t>Trader activo de perpetuos
en Hyperliquid que configura
sus propios criterios</a:t>
            </a:r>
          </a:p>
        </p:txBody>
      </p:sp>
      <p:sp>
        <p:nvSpPr>
          <p:cNvPr id="7" name="¿Se cumple mi condición con datos suficientes?">
            <a:extLst xmlns:a="http://schemas.openxmlformats.org/drawingml/2006/main">
              <a:ext uri="{FF2B5EF4-FFF2-40B4-BE49-F238E27FC236}">
                <a16:creationId xmlns:a16="http://schemas.microsoft.com/office/drawing/2014/main" id="{4BF66C7A-D852-4DB9-823A-E47753BEB02C}"/>
              </a:ext>
            </a:extLst>
          </p:cNvPr>
          <p:cNvSpPr>
            <a:spLocks xmlns:a="http://schemas.openxmlformats.org/drawingml/2006/main" noGrp="1"/>
          </p:cNvSpPr>
          <p:nvPr/>
        </p:nvSpPr>
        <p:spPr>
          <a:xfrm xmlns:a="http://schemas.openxmlformats.org/drawingml/2006/main">
            <a:off x="704850" y="5381625"/>
            <a:ext cx="107632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925" b="0">
                <a:solidFill>
                  <a:srgbClr val="B39A6A"/>
                </a:solidFill>
                <a:latin typeface="Arial"/>
                <a:ea typeface="Arial"/>
                <a:cs typeface="Arial"/>
              </a:defRPr>
            </a:pPr>
            <a:r>
              <a:rPr sz="2925" b="0">
                <a:solidFill>
                  <a:srgbClr val="B39A6A"/>
                </a:solidFill>
                <a:latin typeface="Arial"/>
                <a:ea typeface="Arial"/>
                <a:cs typeface="Arial"/>
              </a:rPr>
              <a:t>¿Se cumple mi condición con datos suficientes?</a:t>
            </a:r>
          </a:p>
        </p:txBody>
      </p:sp>
      <p:sp>
        <p:nvSpPr>
          <p:cNvPr id="8" name="Número de diapositiva">
            <a:extLst xmlns:a="http://schemas.openxmlformats.org/drawingml/2006/main">
              <a:ext uri="{FF2B5EF4-FFF2-40B4-BE49-F238E27FC236}">
                <a16:creationId xmlns:a16="http://schemas.microsoft.com/office/drawing/2014/main" id="{36B78DF0-9CDF-40FB-A7B3-44550C888EBB}"/>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2</a:t>
            </a:r>
          </a:p>
        </p:txBody>
      </p:sp>
    </p:spTree>
    <p:extLst>
      <p:ext uri="{BB962C8B-B14F-4D97-AF65-F5344CB8AC3E}">
        <p14:creationId xmlns:p14="http://schemas.microsoft.com/office/powerpoint/2010/main" val="724165734"/>
      </p:ext>
    </p:extLst>
  </p:cSld>
</p:sld>
</file>

<file path=ppt/slides/slide3.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Alertas con contexto verificable">
            <a:extLst xmlns:a="http://schemas.openxmlformats.org/drawingml/2006/main">
              <a:ext uri="{FF2B5EF4-FFF2-40B4-BE49-F238E27FC236}">
                <a16:creationId xmlns:a16="http://schemas.microsoft.com/office/drawing/2014/main" id="{0DE657F9-EF74-4F51-B25B-48E42759BE1A}"/>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Alertas con contexto verificable</a:t>
            </a:r>
          </a:p>
        </p:txBody>
      </p:sp>
      <p:sp>
        <p:nvSpPr>
          <p:cNvPr id="3" name="El usuario define la condición. El motor evalúa los datos.">
            <a:extLst xmlns:a="http://schemas.openxmlformats.org/drawingml/2006/main">
              <a:ext uri="{FF2B5EF4-FFF2-40B4-BE49-F238E27FC236}">
                <a16:creationId xmlns:a16="http://schemas.microsoft.com/office/drawing/2014/main" id="{45F89D1D-EF34-4C8A-AEEB-90AED33158D1}"/>
              </a:ext>
            </a:extLst>
          </p:cNvPr>
          <p:cNvSpPr>
            <a:spLocks xmlns:a="http://schemas.openxmlformats.org/drawingml/2006/main" noGrp="1"/>
          </p:cNvSpPr>
          <p:nvPr/>
        </p:nvSpPr>
        <p:spPr>
          <a:xfrm xmlns:a="http://schemas.openxmlformats.org/drawingml/2006/main">
            <a:off x="704850" y="1543050"/>
            <a:ext cx="10572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El usuario define la condición. El motor evalúa los datos.</a:t>
            </a:r>
          </a:p>
        </p:txBody>
      </p:sp>
      <p:sp>
        <p:nvSpPr>
          <p:cNvPr id="4" name="Lenguaje natural">
            <a:extLst xmlns:a="http://schemas.openxmlformats.org/drawingml/2006/main">
              <a:ext uri="{FF2B5EF4-FFF2-40B4-BE49-F238E27FC236}">
                <a16:creationId xmlns:a16="http://schemas.microsoft.com/office/drawing/2014/main" id="{1F720597-E157-4F10-8DF5-668167BE29B3}"/>
              </a:ext>
            </a:extLst>
          </p:cNvPr>
          <p:cNvSpPr>
            <a:spLocks xmlns:a="http://schemas.openxmlformats.org/drawingml/2006/main" noGrp="1"/>
          </p:cNvSpPr>
          <p:nvPr/>
        </p:nvSpPr>
        <p:spPr>
          <a:xfrm xmlns:a="http://schemas.openxmlformats.org/drawingml/2006/main">
            <a:off x="704850" y="2609850"/>
            <a:ext cx="33909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1">
                <a:solidFill>
                  <a:srgbClr val="B39A6A"/>
                </a:solidFill>
                <a:latin typeface="Arial"/>
                <a:ea typeface="Arial"/>
                <a:cs typeface="Arial"/>
              </a:defRPr>
            </a:pPr>
            <a:r>
              <a:rPr sz="2325" b="1">
                <a:solidFill>
                  <a:srgbClr val="B39A6A"/>
                </a:solidFill>
                <a:latin typeface="Arial"/>
                <a:ea typeface="Arial"/>
                <a:cs typeface="Arial"/>
              </a:rPr>
              <a:t>Lenguaje natural</a:t>
            </a:r>
          </a:p>
        </p:txBody>
      </p:sp>
      <p:sp>
        <p:nvSpPr>
          <p:cNvPr id="5" name="Describe una condición sin escribir una fórmula.">
            <a:extLst xmlns:a="http://schemas.openxmlformats.org/drawingml/2006/main">
              <a:ext uri="{FF2B5EF4-FFF2-40B4-BE49-F238E27FC236}">
                <a16:creationId xmlns:a16="http://schemas.microsoft.com/office/drawing/2014/main" id="{AD876A28-E50C-4706-985B-24C79FD27E81}"/>
              </a:ext>
            </a:extLst>
          </p:cNvPr>
          <p:cNvSpPr>
            <a:spLocks xmlns:a="http://schemas.openxmlformats.org/drawingml/2006/main" noGrp="1"/>
          </p:cNvSpPr>
          <p:nvPr/>
        </p:nvSpPr>
        <p:spPr>
          <a:xfrm xmlns:a="http://schemas.openxmlformats.org/drawingml/2006/main">
            <a:off x="704850" y="3371850"/>
            <a:ext cx="3390900" cy="108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Describe una condición
sin escribir una fórmula.</a:t>
            </a:r>
          </a:p>
        </p:txBody>
      </p:sp>
      <p:sp>
        <p:nvSpPr>
          <p:cNvPr id="6" name="Motor determinista">
            <a:extLst xmlns:a="http://schemas.openxmlformats.org/drawingml/2006/main">
              <a:ext uri="{FF2B5EF4-FFF2-40B4-BE49-F238E27FC236}">
                <a16:creationId xmlns:a16="http://schemas.microsoft.com/office/drawing/2014/main" id="{0D138B20-0678-414D-903C-0E3C47CD5A8A}"/>
              </a:ext>
            </a:extLst>
          </p:cNvPr>
          <p:cNvSpPr>
            <a:spLocks xmlns:a="http://schemas.openxmlformats.org/drawingml/2006/main" noGrp="1"/>
          </p:cNvSpPr>
          <p:nvPr/>
        </p:nvSpPr>
        <p:spPr>
          <a:xfrm xmlns:a="http://schemas.openxmlformats.org/drawingml/2006/main">
            <a:off x="4419600" y="2609850"/>
            <a:ext cx="33909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1">
                <a:solidFill>
                  <a:srgbClr val="B39A6A"/>
                </a:solidFill>
                <a:latin typeface="Arial"/>
                <a:ea typeface="Arial"/>
                <a:cs typeface="Arial"/>
              </a:defRPr>
            </a:pPr>
            <a:r>
              <a:rPr sz="2325" b="1">
                <a:solidFill>
                  <a:srgbClr val="B39A6A"/>
                </a:solidFill>
                <a:latin typeface="Arial"/>
                <a:ea typeface="Arial"/>
                <a:cs typeface="Arial"/>
              </a:rPr>
              <a:t>Motor determinista</a:t>
            </a:r>
          </a:p>
        </p:txBody>
      </p:sp>
      <p:sp>
        <p:nvSpPr>
          <p:cNvPr id="7" name="Umbrales, ventanas, persistencia y cooldown.">
            <a:extLst xmlns:a="http://schemas.openxmlformats.org/drawingml/2006/main">
              <a:ext uri="{FF2B5EF4-FFF2-40B4-BE49-F238E27FC236}">
                <a16:creationId xmlns:a16="http://schemas.microsoft.com/office/drawing/2014/main" id="{6F0C422A-0CB8-4BED-965B-E4B54EC2FCF6}"/>
              </a:ext>
            </a:extLst>
          </p:cNvPr>
          <p:cNvSpPr>
            <a:spLocks xmlns:a="http://schemas.openxmlformats.org/drawingml/2006/main" noGrp="1"/>
          </p:cNvSpPr>
          <p:nvPr/>
        </p:nvSpPr>
        <p:spPr>
          <a:xfrm xmlns:a="http://schemas.openxmlformats.org/drawingml/2006/main">
            <a:off x="4419600" y="3371850"/>
            <a:ext cx="3390900" cy="108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Umbrales, ventanas,
persistencia y cooldown.</a:t>
            </a:r>
          </a:p>
        </p:txBody>
      </p:sp>
      <p:sp>
        <p:nvSpPr>
          <p:cNvPr id="8" name="Evidencia conservada">
            <a:extLst xmlns:a="http://schemas.openxmlformats.org/drawingml/2006/main">
              <a:ext uri="{FF2B5EF4-FFF2-40B4-BE49-F238E27FC236}">
                <a16:creationId xmlns:a16="http://schemas.microsoft.com/office/drawing/2014/main" id="{D010A621-3FA7-494F-BF0E-2CDB761716A3}"/>
              </a:ext>
            </a:extLst>
          </p:cNvPr>
          <p:cNvSpPr>
            <a:spLocks xmlns:a="http://schemas.openxmlformats.org/drawingml/2006/main" noGrp="1"/>
          </p:cNvSpPr>
          <p:nvPr/>
        </p:nvSpPr>
        <p:spPr>
          <a:xfrm xmlns:a="http://schemas.openxmlformats.org/drawingml/2006/main">
            <a:off x="8134350" y="2609850"/>
            <a:ext cx="33909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1">
                <a:solidFill>
                  <a:srgbClr val="B39A6A"/>
                </a:solidFill>
                <a:latin typeface="Arial"/>
                <a:ea typeface="Arial"/>
                <a:cs typeface="Arial"/>
              </a:defRPr>
            </a:pPr>
            <a:r>
              <a:rPr sz="2325" b="1">
                <a:solidFill>
                  <a:srgbClr val="B39A6A"/>
                </a:solidFill>
                <a:latin typeface="Arial"/>
                <a:ea typeface="Arial"/>
                <a:cs typeface="Arial"/>
              </a:rPr>
              <a:t>Evidencia conservada</a:t>
            </a:r>
          </a:p>
        </p:txBody>
      </p:sp>
      <p:sp>
        <p:nvSpPr>
          <p:cNvPr id="9" name="Revisa valores, tiempos y decisiones de calidad.">
            <a:extLst xmlns:a="http://schemas.openxmlformats.org/drawingml/2006/main">
              <a:ext uri="{FF2B5EF4-FFF2-40B4-BE49-F238E27FC236}">
                <a16:creationId xmlns:a16="http://schemas.microsoft.com/office/drawing/2014/main" id="{C2EA14A5-5874-427A-8E59-A4010380752F}"/>
              </a:ext>
            </a:extLst>
          </p:cNvPr>
          <p:cNvSpPr>
            <a:spLocks xmlns:a="http://schemas.openxmlformats.org/drawingml/2006/main" noGrp="1"/>
          </p:cNvSpPr>
          <p:nvPr/>
        </p:nvSpPr>
        <p:spPr>
          <a:xfrm xmlns:a="http://schemas.openxmlformats.org/drawingml/2006/main">
            <a:off x="8134350" y="3371850"/>
            <a:ext cx="3390900" cy="108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Revisa valores, tiempos
y decisiones de calidad.</a:t>
            </a:r>
          </a:p>
        </p:txBody>
      </p:sp>
      <p:sp>
        <p:nvSpPr>
          <p:cNvPr id="10" name="La IA facilita la interacción y la consulta de evidencias">
            <a:extLst xmlns:a="http://schemas.openxmlformats.org/drawingml/2006/main">
              <a:ext uri="{FF2B5EF4-FFF2-40B4-BE49-F238E27FC236}">
                <a16:creationId xmlns:a16="http://schemas.microsoft.com/office/drawing/2014/main" id="{388E78A4-02C2-4A72-A10D-7F99811142A4}"/>
              </a:ext>
            </a:extLst>
          </p:cNvPr>
          <p:cNvSpPr>
            <a:spLocks xmlns:a="http://schemas.openxmlformats.org/drawingml/2006/main" noGrp="1"/>
          </p:cNvSpPr>
          <p:nvPr/>
        </p:nvSpPr>
        <p:spPr>
          <a:xfrm xmlns:a="http://schemas.openxmlformats.org/drawingml/2006/main">
            <a:off x="704850" y="5324475"/>
            <a:ext cx="105727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625" b="0">
                <a:solidFill>
                  <a:srgbClr val="B5B1A8"/>
                </a:solidFill>
                <a:latin typeface="Arial"/>
                <a:ea typeface="Arial"/>
                <a:cs typeface="Arial"/>
              </a:defRPr>
            </a:pPr>
            <a:r>
              <a:rPr sz="2625" b="0">
                <a:solidFill>
                  <a:srgbClr val="B5B1A8"/>
                </a:solidFill>
                <a:latin typeface="Arial"/>
                <a:ea typeface="Arial"/>
                <a:cs typeface="Arial"/>
              </a:rPr>
              <a:t>La IA facilita la interacción y la consulta de evidencias</a:t>
            </a:r>
          </a:p>
        </p:txBody>
      </p:sp>
      <p:sp>
        <p:nvSpPr>
          <p:cNvPr id="11" name="Número de diapositiva">
            <a:extLst xmlns:a="http://schemas.openxmlformats.org/drawingml/2006/main">
              <a:ext uri="{FF2B5EF4-FFF2-40B4-BE49-F238E27FC236}">
                <a16:creationId xmlns:a16="http://schemas.microsoft.com/office/drawing/2014/main" id="{7B202AC0-213A-44D7-AC32-E77A8A546F3B}"/>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3</a:t>
            </a:r>
          </a:p>
        </p:txBody>
      </p:sp>
    </p:spTree>
    <p:extLst>
      <p:ext uri="{BB962C8B-B14F-4D97-AF65-F5344CB8AC3E}">
        <p14:creationId xmlns:p14="http://schemas.microsoft.com/office/powerpoint/2010/main" val="1689672718"/>
      </p:ext>
    </p:extLst>
  </p:cSld>
</p:sld>
</file>

<file path=ppt/slides/slide4.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Un MVP conectado al mercado">
            <a:extLst xmlns:a="http://schemas.openxmlformats.org/drawingml/2006/main">
              <a:ext uri="{FF2B5EF4-FFF2-40B4-BE49-F238E27FC236}">
                <a16:creationId xmlns:a16="http://schemas.microsoft.com/office/drawing/2014/main" id="{9A91C55A-533D-433C-A3AD-71D95628B12D}"/>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Un MVP conectado al mercado</a:t>
            </a:r>
          </a:p>
        </p:txBody>
      </p:sp>
      <p:sp>
        <p:nvSpPr>
          <p:cNvPr id="3" name="5 mercados">
            <a:extLst xmlns:a="http://schemas.openxmlformats.org/drawingml/2006/main">
              <a:ext uri="{FF2B5EF4-FFF2-40B4-BE49-F238E27FC236}">
                <a16:creationId xmlns:a16="http://schemas.microsoft.com/office/drawing/2014/main" id="{31F3A2D8-B3B8-44AB-A20D-65E65945DE74}"/>
              </a:ext>
            </a:extLst>
          </p:cNvPr>
          <p:cNvSpPr>
            <a:spLocks xmlns:a="http://schemas.openxmlformats.org/drawingml/2006/main" noGrp="1"/>
          </p:cNvSpPr>
          <p:nvPr/>
        </p:nvSpPr>
        <p:spPr>
          <a:xfrm xmlns:a="http://schemas.openxmlformats.org/drawingml/2006/main">
            <a:off x="704850" y="2076450"/>
            <a:ext cx="4095750" cy="695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425" b="1">
                <a:solidFill>
                  <a:srgbClr val="B39A6A"/>
                </a:solidFill>
                <a:latin typeface="Arial"/>
                <a:ea typeface="Arial"/>
                <a:cs typeface="Arial"/>
              </a:defRPr>
            </a:pPr>
            <a:r>
              <a:rPr sz="4425" b="1">
                <a:solidFill>
                  <a:srgbClr val="B39A6A"/>
                </a:solidFill>
                <a:latin typeface="Arial"/>
                <a:ea typeface="Arial"/>
                <a:cs typeface="Arial"/>
              </a:rPr>
              <a:t>5 mercados</a:t>
            </a:r>
          </a:p>
        </p:txBody>
      </p:sp>
      <p:sp>
        <p:nvSpPr>
          <p:cNvPr id="4" name="BTC, ETH, SP500, XYZ100 y BRENTOIL">
            <a:extLst xmlns:a="http://schemas.openxmlformats.org/drawingml/2006/main">
              <a:ext uri="{FF2B5EF4-FFF2-40B4-BE49-F238E27FC236}">
                <a16:creationId xmlns:a16="http://schemas.microsoft.com/office/drawing/2014/main" id="{5E063E0E-161B-47A2-A551-C41EA6BF9B88}"/>
              </a:ext>
            </a:extLst>
          </p:cNvPr>
          <p:cNvSpPr>
            <a:spLocks xmlns:a="http://schemas.openxmlformats.org/drawingml/2006/main" noGrp="1"/>
          </p:cNvSpPr>
          <p:nvPr/>
        </p:nvSpPr>
        <p:spPr>
          <a:xfrm xmlns:a="http://schemas.openxmlformats.org/drawingml/2006/main">
            <a:off x="704850" y="2847975"/>
            <a:ext cx="40957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0">
                <a:solidFill>
                  <a:srgbClr val="E8E5DC"/>
                </a:solidFill>
                <a:latin typeface="Arial"/>
                <a:ea typeface="Arial"/>
                <a:cs typeface="Arial"/>
              </a:defRPr>
            </a:pPr>
            <a:r>
              <a:rPr sz="2325" b="0">
                <a:solidFill>
                  <a:srgbClr val="E8E5DC"/>
                </a:solidFill>
                <a:latin typeface="Arial"/>
                <a:ea typeface="Arial"/>
                <a:cs typeface="Arial"/>
              </a:rPr>
              <a:t>BTC, ETH, SP500,
XYZ100 y BRENTOIL</a:t>
            </a:r>
          </a:p>
        </p:txBody>
      </p:sp>
      <p:sp>
        <p:nvSpPr>
          <p:cNvPr id="5" name="Gráfico y libro de órdenes Chat con herramientas Alertas e historial web">
            <a:extLst xmlns:a="http://schemas.openxmlformats.org/drawingml/2006/main">
              <a:ext uri="{FF2B5EF4-FFF2-40B4-BE49-F238E27FC236}">
                <a16:creationId xmlns:a16="http://schemas.microsoft.com/office/drawing/2014/main" id="{3CB3F7D8-27C8-4204-A26E-FC7741CA59B4}"/>
              </a:ext>
            </a:extLst>
          </p:cNvPr>
          <p:cNvSpPr>
            <a:spLocks xmlns:a="http://schemas.openxmlformats.org/drawingml/2006/main" noGrp="1"/>
          </p:cNvSpPr>
          <p:nvPr/>
        </p:nvSpPr>
        <p:spPr>
          <a:xfrm xmlns:a="http://schemas.openxmlformats.org/drawingml/2006/main">
            <a:off x="704850" y="4200525"/>
            <a:ext cx="4000500" cy="1400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0">
                <a:solidFill>
                  <a:srgbClr val="B5B1A8"/>
                </a:solidFill>
                <a:latin typeface="Arial"/>
                <a:ea typeface="Arial"/>
                <a:cs typeface="Arial"/>
              </a:defRPr>
            </a:pPr>
            <a:r>
              <a:rPr sz="2250" b="0">
                <a:solidFill>
                  <a:srgbClr val="B5B1A8"/>
                </a:solidFill>
                <a:latin typeface="Arial"/>
                <a:ea typeface="Arial"/>
                <a:cs typeface="Arial"/>
              </a:rPr>
              <a:t>Gráfico y libro de órdenes
Chat con herramientas
Alertas e historial web</a:t>
            </a:r>
          </a:p>
        </p:txBody>
      </p:sp>
      <p:pic>
        <p:nvPicPr>
          <p:cNvPr id="14" name="platform-capture.png"/>
          <p:cNvPicPr>
            <a:picLocks xmlns:a="http://schemas.openxmlformats.org/drawingml/2006/main" noChangeAspect="1"/>
          </p:cNvPicPr>
          <p:nvPr/>
        </p:nvPicPr>
        <p:blipFill>
          <a:blip xmlns:r="http://schemas.openxmlformats.org/officeDocument/2006/relationships" xmlns:a="http://schemas.openxmlformats.org/drawingml/2006/main" r:embed="Rccc2003c4da447e1"/>
          <a:srcRect xmlns:a="http://schemas.openxmlformats.org/drawingml/2006/main" l="0" t="0" r="37500" b="34800"/>
          <a:stretch xmlns:a="http://schemas.openxmlformats.org/drawingml/2006/main">
            <a:fillRect l="0" t="0" r="0" b="0"/>
          </a:stretch>
        </p:blipFill>
        <p:spPr>
          <a:xfrm xmlns:a="http://schemas.openxmlformats.org/drawingml/2006/main">
            <a:off x="5648325" y="1914525"/>
            <a:ext cx="5781675" cy="4191000"/>
          </a:xfrm>
          <a:prstGeom xmlns:a="http://schemas.openxmlformats.org/drawingml/2006/main" prst="rect">
            <a:avLst/>
          </a:prstGeom>
          <a:ln xmlns:a="http://schemas.openxmlformats.org/drawingml/2006/main">
            <a:noFill/>
          </a:ln>
        </p:spPr>
      </p:pic>
      <p:sp>
        <p:nvSpPr>
          <p:cNvPr id="7" name="Captura de Hype Radar, 4 oct. 2026. Datos históricos.">
            <a:extLst xmlns:a="http://schemas.openxmlformats.org/drawingml/2006/main">
              <a:ext uri="{FF2B5EF4-FFF2-40B4-BE49-F238E27FC236}">
                <a16:creationId xmlns:a16="http://schemas.microsoft.com/office/drawing/2014/main" id="{9698DA4B-6A01-4844-88F1-A8BEA1ED59E6}"/>
              </a:ext>
            </a:extLst>
          </p:cNvPr>
          <p:cNvSpPr>
            <a:spLocks xmlns:a="http://schemas.openxmlformats.org/drawingml/2006/main" noGrp="1"/>
          </p:cNvSpPr>
          <p:nvPr/>
        </p:nvSpPr>
        <p:spPr>
          <a:xfrm xmlns:a="http://schemas.openxmlformats.org/drawingml/2006/main">
            <a:off x="5648325" y="6238875"/>
            <a:ext cx="58578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275" b="0">
                <a:solidFill>
                  <a:srgbClr val="B5B1A8"/>
                </a:solidFill>
                <a:latin typeface="Arial"/>
                <a:ea typeface="Arial"/>
                <a:cs typeface="Arial"/>
              </a:defRPr>
            </a:pPr>
            <a:r>
              <a:rPr sz="1275" b="0">
                <a:solidFill>
                  <a:srgbClr val="B5B1A8"/>
                </a:solidFill>
                <a:latin typeface="Arial"/>
                <a:ea typeface="Arial"/>
                <a:cs typeface="Arial"/>
              </a:rPr>
              <a:t>Captura de Hype Radar, 4 oct. 2026. Datos históricos.</a:t>
            </a:r>
          </a:p>
        </p:txBody>
      </p:sp>
      <p:sp>
        <p:nvSpPr>
          <p:cNvPr id="8" name="Número de diapositiva">
            <a:extLst xmlns:a="http://schemas.openxmlformats.org/drawingml/2006/main">
              <a:ext uri="{FF2B5EF4-FFF2-40B4-BE49-F238E27FC236}">
                <a16:creationId xmlns:a16="http://schemas.microsoft.com/office/drawing/2014/main" id="{E5739091-42C2-4333-ADBA-C167BFAAE014}"/>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4</a:t>
            </a:r>
          </a:p>
        </p:txBody>
      </p:sp>
    </p:spTree>
    <p:extLst>
      <p:ext uri="{BB962C8B-B14F-4D97-AF65-F5344CB8AC3E}">
        <p14:creationId xmlns:p14="http://schemas.microsoft.com/office/powerpoint/2010/main" val="1461253832"/>
      </p:ext>
    </p:extLst>
  </p:cSld>
</p:sld>
</file>

<file path=ppt/slides/slide5.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Una condición hablada, una regla precisa">
            <a:extLst xmlns:a="http://schemas.openxmlformats.org/drawingml/2006/main">
              <a:ext uri="{FF2B5EF4-FFF2-40B4-BE49-F238E27FC236}">
                <a16:creationId xmlns:a16="http://schemas.microsoft.com/office/drawing/2014/main" id="{399065E1-36A7-4040-9EEA-5C006F4F8EA5}"/>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Una condición hablada, una regla precisa</a:t>
            </a:r>
          </a:p>
        </p:txBody>
      </p:sp>
      <p:sp>
        <p:nvSpPr>
          <p:cNvPr id="3" name="“Crea una alerta si el interés abierto de BTC sube un 5 % en 15 minutos. Bloquea">
            <a:extLst xmlns:a="http://schemas.openxmlformats.org/drawingml/2006/main">
              <a:ext uri="{FF2B5EF4-FFF2-40B4-BE49-F238E27FC236}">
                <a16:creationId xmlns:a16="http://schemas.microsoft.com/office/drawing/2014/main" id="{3A9AF3D2-1B22-4901-A443-4D3E46F9BA17}"/>
              </a:ext>
            </a:extLst>
          </p:cNvPr>
          <p:cNvSpPr>
            <a:spLocks xmlns:a="http://schemas.openxmlformats.org/drawingml/2006/main" noGrp="1"/>
          </p:cNvSpPr>
          <p:nvPr/>
        </p:nvSpPr>
        <p:spPr>
          <a:xfrm xmlns:a="http://schemas.openxmlformats.org/drawingml/2006/main">
            <a:off x="704850" y="1943100"/>
            <a:ext cx="10429875" cy="1581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850" b="0">
                <a:solidFill>
                  <a:srgbClr val="E8E5DC"/>
                </a:solidFill>
                <a:latin typeface="Arial"/>
                <a:ea typeface="Arial"/>
                <a:cs typeface="Arial"/>
              </a:defRPr>
            </a:pPr>
            <a:r>
              <a:rPr sz="2850" b="0">
                <a:solidFill>
                  <a:srgbClr val="E8E5DC"/>
                </a:solidFill>
                <a:latin typeface="Arial"/>
                <a:ea typeface="Arial"/>
                <a:cs typeface="Arial"/>
              </a:rPr>
              <a:t>“Crea una alerta si el interés abierto de BTC
sube un 5 % en 15 minutos. Bloquea el evento
si el spread supera 10 puntos básicos.”</a:t>
            </a:r>
          </a:p>
        </p:txBody>
      </p:sp>
      <p:sp>
        <p:nvSpPr>
          <p:cNvPr id="4" name="Ejemplo de petición">
            <a:extLst xmlns:a="http://schemas.openxmlformats.org/drawingml/2006/main">
              <a:ext uri="{FF2B5EF4-FFF2-40B4-BE49-F238E27FC236}">
                <a16:creationId xmlns:a16="http://schemas.microsoft.com/office/drawing/2014/main" id="{2832B5F7-2D1B-4ABB-95AF-C7FC1C90CAAC}"/>
              </a:ext>
            </a:extLst>
          </p:cNvPr>
          <p:cNvSpPr>
            <a:spLocks xmlns:a="http://schemas.openxmlformats.org/drawingml/2006/main" noGrp="1"/>
          </p:cNvSpPr>
          <p:nvPr/>
        </p:nvSpPr>
        <p:spPr>
          <a:xfrm xmlns:a="http://schemas.openxmlformats.org/drawingml/2006/main">
            <a:off x="704850" y="3705225"/>
            <a:ext cx="5715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650" b="0">
                <a:solidFill>
                  <a:srgbClr val="B39A6A"/>
                </a:solidFill>
                <a:latin typeface="Arial"/>
                <a:ea typeface="Arial"/>
                <a:cs typeface="Arial"/>
              </a:defRPr>
            </a:pPr>
            <a:r>
              <a:rPr sz="1650" b="0">
                <a:solidFill>
                  <a:srgbClr val="B39A6A"/>
                </a:solidFill>
                <a:latin typeface="Arial"/>
                <a:ea typeface="Arial"/>
                <a:cs typeface="Arial"/>
              </a:rPr>
              <a:t>Ejemplo de petición</a:t>
            </a:r>
          </a:p>
        </p:txBody>
      </p:sp>
      <p:sp>
        <p:nvSpPr>
          <p:cNvPr id="5" name="1">
            <a:extLst xmlns:a="http://schemas.openxmlformats.org/drawingml/2006/main">
              <a:ext uri="{FF2B5EF4-FFF2-40B4-BE49-F238E27FC236}">
                <a16:creationId xmlns:a16="http://schemas.microsoft.com/office/drawing/2014/main" id="{FA0AEB6C-CF02-4D5B-B823-2D4A21C9413F}"/>
              </a:ext>
            </a:extLst>
          </p:cNvPr>
          <p:cNvSpPr>
            <a:spLocks xmlns:a="http://schemas.openxmlformats.org/drawingml/2006/main" noGrp="1"/>
          </p:cNvSpPr>
          <p:nvPr/>
        </p:nvSpPr>
        <p:spPr>
          <a:xfrm xmlns:a="http://schemas.openxmlformats.org/drawingml/2006/main">
            <a:off x="704850" y="4524375"/>
            <a:ext cx="5905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600" b="0">
                <a:solidFill>
                  <a:srgbClr val="B39A6A"/>
                </a:solidFill>
                <a:latin typeface="Arial"/>
                <a:ea typeface="Arial"/>
                <a:cs typeface="Arial"/>
              </a:defRPr>
            </a:pPr>
            <a:r>
              <a:rPr sz="3600" b="0">
                <a:solidFill>
                  <a:srgbClr val="B39A6A"/>
                </a:solidFill>
                <a:latin typeface="Arial"/>
                <a:ea typeface="Arial"/>
                <a:cs typeface="Arial"/>
              </a:rPr>
              <a:t>1</a:t>
            </a:r>
          </a:p>
        </p:txBody>
      </p:sp>
      <p:sp>
        <p:nvSpPr>
          <p:cNvPr id="6" name="Voz">
            <a:extLst xmlns:a="http://schemas.openxmlformats.org/drawingml/2006/main">
              <a:ext uri="{FF2B5EF4-FFF2-40B4-BE49-F238E27FC236}">
                <a16:creationId xmlns:a16="http://schemas.microsoft.com/office/drawing/2014/main" id="{D0AF0A76-FF3A-4D47-8897-894101A88A68}"/>
              </a:ext>
            </a:extLst>
          </p:cNvPr>
          <p:cNvSpPr>
            <a:spLocks xmlns:a="http://schemas.openxmlformats.org/drawingml/2006/main" noGrp="1"/>
          </p:cNvSpPr>
          <p:nvPr/>
        </p:nvSpPr>
        <p:spPr>
          <a:xfrm xmlns:a="http://schemas.openxmlformats.org/drawingml/2006/main">
            <a:off x="704850" y="5238750"/>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E8E5DC"/>
                </a:solidFill>
                <a:latin typeface="Arial"/>
                <a:ea typeface="Arial"/>
                <a:cs typeface="Arial"/>
              </a:defRPr>
            </a:pPr>
            <a:r>
              <a:rPr sz="2175" b="1">
                <a:solidFill>
                  <a:srgbClr val="E8E5DC"/>
                </a:solidFill>
                <a:latin typeface="Arial"/>
                <a:ea typeface="Arial"/>
                <a:cs typeface="Arial"/>
              </a:rPr>
              <a:t>Voz</a:t>
            </a:r>
          </a:p>
        </p:txBody>
      </p:sp>
      <p:sp>
        <p:nvSpPr>
          <p:cNvPr id="7" name="Grabación breve">
            <a:extLst xmlns:a="http://schemas.openxmlformats.org/drawingml/2006/main">
              <a:ext uri="{FF2B5EF4-FFF2-40B4-BE49-F238E27FC236}">
                <a16:creationId xmlns:a16="http://schemas.microsoft.com/office/drawing/2014/main" id="{2B689C16-75D8-419E-97F4-87A607A70C96}"/>
              </a:ext>
            </a:extLst>
          </p:cNvPr>
          <p:cNvSpPr>
            <a:spLocks xmlns:a="http://schemas.openxmlformats.org/drawingml/2006/main" noGrp="1"/>
          </p:cNvSpPr>
          <p:nvPr/>
        </p:nvSpPr>
        <p:spPr>
          <a:xfrm xmlns:a="http://schemas.openxmlformats.org/drawingml/2006/main">
            <a:off x="704850" y="5734050"/>
            <a:ext cx="25717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B5B1A8"/>
                </a:solidFill>
                <a:latin typeface="Arial"/>
                <a:ea typeface="Arial"/>
                <a:cs typeface="Arial"/>
              </a:defRPr>
            </a:pPr>
            <a:r>
              <a:rPr sz="1725" b="0">
                <a:solidFill>
                  <a:srgbClr val="B5B1A8"/>
                </a:solidFill>
                <a:latin typeface="Arial"/>
                <a:ea typeface="Arial"/>
                <a:cs typeface="Arial"/>
              </a:rPr>
              <a:t>Grabación breve</a:t>
            </a:r>
          </a:p>
        </p:txBody>
      </p:sp>
      <p:sp>
        <p:nvSpPr>
          <p:cNvPr id="8" name="2">
            <a:extLst xmlns:a="http://schemas.openxmlformats.org/drawingml/2006/main">
              <a:ext uri="{FF2B5EF4-FFF2-40B4-BE49-F238E27FC236}">
                <a16:creationId xmlns:a16="http://schemas.microsoft.com/office/drawing/2014/main" id="{EACF4EF2-D28C-4B54-AE57-5DBB130FC8E1}"/>
              </a:ext>
            </a:extLst>
          </p:cNvPr>
          <p:cNvSpPr>
            <a:spLocks xmlns:a="http://schemas.openxmlformats.org/drawingml/2006/main" noGrp="1"/>
          </p:cNvSpPr>
          <p:nvPr/>
        </p:nvSpPr>
        <p:spPr>
          <a:xfrm xmlns:a="http://schemas.openxmlformats.org/drawingml/2006/main">
            <a:off x="3543300" y="4524375"/>
            <a:ext cx="5905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600" b="0">
                <a:solidFill>
                  <a:srgbClr val="B39A6A"/>
                </a:solidFill>
                <a:latin typeface="Arial"/>
                <a:ea typeface="Arial"/>
                <a:cs typeface="Arial"/>
              </a:defRPr>
            </a:pPr>
            <a:r>
              <a:rPr sz="3600" b="0">
                <a:solidFill>
                  <a:srgbClr val="B39A6A"/>
                </a:solidFill>
                <a:latin typeface="Arial"/>
                <a:ea typeface="Arial"/>
                <a:cs typeface="Arial"/>
              </a:rPr>
              <a:t>2</a:t>
            </a:r>
          </a:p>
        </p:txBody>
      </p:sp>
      <p:sp>
        <p:nvSpPr>
          <p:cNvPr id="9" name="Revisión">
            <a:extLst xmlns:a="http://schemas.openxmlformats.org/drawingml/2006/main">
              <a:ext uri="{FF2B5EF4-FFF2-40B4-BE49-F238E27FC236}">
                <a16:creationId xmlns:a16="http://schemas.microsoft.com/office/drawing/2014/main" id="{E4780723-4E97-4C80-9CE4-B93CCF7D9052}"/>
              </a:ext>
            </a:extLst>
          </p:cNvPr>
          <p:cNvSpPr>
            <a:spLocks xmlns:a="http://schemas.openxmlformats.org/drawingml/2006/main" noGrp="1"/>
          </p:cNvSpPr>
          <p:nvPr/>
        </p:nvSpPr>
        <p:spPr>
          <a:xfrm xmlns:a="http://schemas.openxmlformats.org/drawingml/2006/main">
            <a:off x="3543300" y="5238750"/>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E8E5DC"/>
                </a:solidFill>
                <a:latin typeface="Arial"/>
                <a:ea typeface="Arial"/>
                <a:cs typeface="Arial"/>
              </a:defRPr>
            </a:pPr>
            <a:r>
              <a:rPr sz="2175" b="1">
                <a:solidFill>
                  <a:srgbClr val="E8E5DC"/>
                </a:solidFill>
                <a:latin typeface="Arial"/>
                <a:ea typeface="Arial"/>
                <a:cs typeface="Arial"/>
              </a:rPr>
              <a:t>Revisión</a:t>
            </a:r>
          </a:p>
        </p:txBody>
      </p:sp>
      <p:sp>
        <p:nvSpPr>
          <p:cNvPr id="10" name="Comprueba el texto">
            <a:extLst xmlns:a="http://schemas.openxmlformats.org/drawingml/2006/main">
              <a:ext uri="{FF2B5EF4-FFF2-40B4-BE49-F238E27FC236}">
                <a16:creationId xmlns:a16="http://schemas.microsoft.com/office/drawing/2014/main" id="{653C924C-0E50-476C-8179-4DF3901A24ED}"/>
              </a:ext>
            </a:extLst>
          </p:cNvPr>
          <p:cNvSpPr>
            <a:spLocks xmlns:a="http://schemas.openxmlformats.org/drawingml/2006/main" noGrp="1"/>
          </p:cNvSpPr>
          <p:nvPr/>
        </p:nvSpPr>
        <p:spPr>
          <a:xfrm xmlns:a="http://schemas.openxmlformats.org/drawingml/2006/main">
            <a:off x="3543300" y="5734050"/>
            <a:ext cx="25717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B5B1A8"/>
                </a:solidFill>
                <a:latin typeface="Arial"/>
                <a:ea typeface="Arial"/>
                <a:cs typeface="Arial"/>
              </a:defRPr>
            </a:pPr>
            <a:r>
              <a:rPr sz="1725" b="0">
                <a:solidFill>
                  <a:srgbClr val="B5B1A8"/>
                </a:solidFill>
                <a:latin typeface="Arial"/>
                <a:ea typeface="Arial"/>
                <a:cs typeface="Arial"/>
              </a:rPr>
              <a:t>Comprueba el texto</a:t>
            </a:r>
          </a:p>
        </p:txBody>
      </p:sp>
      <p:sp>
        <p:nvSpPr>
          <p:cNvPr id="11" name="3">
            <a:extLst xmlns:a="http://schemas.openxmlformats.org/drawingml/2006/main">
              <a:ext uri="{FF2B5EF4-FFF2-40B4-BE49-F238E27FC236}">
                <a16:creationId xmlns:a16="http://schemas.microsoft.com/office/drawing/2014/main" id="{1E7E8BAB-48AE-4582-AF4E-B6C0B3A1EFC2}"/>
              </a:ext>
            </a:extLst>
          </p:cNvPr>
          <p:cNvSpPr>
            <a:spLocks xmlns:a="http://schemas.openxmlformats.org/drawingml/2006/main" noGrp="1"/>
          </p:cNvSpPr>
          <p:nvPr/>
        </p:nvSpPr>
        <p:spPr>
          <a:xfrm xmlns:a="http://schemas.openxmlformats.org/drawingml/2006/main">
            <a:off x="6381750" y="4524375"/>
            <a:ext cx="5905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600" b="0">
                <a:solidFill>
                  <a:srgbClr val="B39A6A"/>
                </a:solidFill>
                <a:latin typeface="Arial"/>
                <a:ea typeface="Arial"/>
                <a:cs typeface="Arial"/>
              </a:defRPr>
            </a:pPr>
            <a:r>
              <a:rPr sz="3600" b="0">
                <a:solidFill>
                  <a:srgbClr val="B39A6A"/>
                </a:solidFill>
                <a:latin typeface="Arial"/>
                <a:ea typeface="Arial"/>
                <a:cs typeface="Arial"/>
              </a:rPr>
              <a:t>3</a:t>
            </a:r>
          </a:p>
        </p:txBody>
      </p:sp>
      <p:sp>
        <p:nvSpPr>
          <p:cNvPr id="12" name="Creación">
            <a:extLst xmlns:a="http://schemas.openxmlformats.org/drawingml/2006/main">
              <a:ext uri="{FF2B5EF4-FFF2-40B4-BE49-F238E27FC236}">
                <a16:creationId xmlns:a16="http://schemas.microsoft.com/office/drawing/2014/main" id="{11FFC1EE-5948-4A0B-A43B-0623F4EC4CC6}"/>
              </a:ext>
            </a:extLst>
          </p:cNvPr>
          <p:cNvSpPr>
            <a:spLocks xmlns:a="http://schemas.openxmlformats.org/drawingml/2006/main" noGrp="1"/>
          </p:cNvSpPr>
          <p:nvPr/>
        </p:nvSpPr>
        <p:spPr>
          <a:xfrm xmlns:a="http://schemas.openxmlformats.org/drawingml/2006/main">
            <a:off x="6381750" y="5238750"/>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E8E5DC"/>
                </a:solidFill>
                <a:latin typeface="Arial"/>
                <a:ea typeface="Arial"/>
                <a:cs typeface="Arial"/>
              </a:defRPr>
            </a:pPr>
            <a:r>
              <a:rPr sz="2175" b="1">
                <a:solidFill>
                  <a:srgbClr val="E8E5DC"/>
                </a:solidFill>
                <a:latin typeface="Arial"/>
                <a:ea typeface="Arial"/>
                <a:cs typeface="Arial"/>
              </a:rPr>
              <a:t>Creación</a:t>
            </a:r>
          </a:p>
        </p:txBody>
      </p:sp>
      <p:sp>
        <p:nvSpPr>
          <p:cNvPr id="13" name="Condiciones exactas">
            <a:extLst xmlns:a="http://schemas.openxmlformats.org/drawingml/2006/main">
              <a:ext uri="{FF2B5EF4-FFF2-40B4-BE49-F238E27FC236}">
                <a16:creationId xmlns:a16="http://schemas.microsoft.com/office/drawing/2014/main" id="{D07F4E2A-B2AF-4D49-89FF-B8563B93F8F8}"/>
              </a:ext>
            </a:extLst>
          </p:cNvPr>
          <p:cNvSpPr>
            <a:spLocks xmlns:a="http://schemas.openxmlformats.org/drawingml/2006/main" noGrp="1"/>
          </p:cNvSpPr>
          <p:nvPr/>
        </p:nvSpPr>
        <p:spPr>
          <a:xfrm xmlns:a="http://schemas.openxmlformats.org/drawingml/2006/main">
            <a:off x="6381750" y="5734050"/>
            <a:ext cx="25717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B5B1A8"/>
                </a:solidFill>
                <a:latin typeface="Arial"/>
                <a:ea typeface="Arial"/>
                <a:cs typeface="Arial"/>
              </a:defRPr>
            </a:pPr>
            <a:r>
              <a:rPr sz="1725" b="0">
                <a:solidFill>
                  <a:srgbClr val="B5B1A8"/>
                </a:solidFill>
                <a:latin typeface="Arial"/>
                <a:ea typeface="Arial"/>
                <a:cs typeface="Arial"/>
              </a:rPr>
              <a:t>Condiciones exactas</a:t>
            </a:r>
          </a:p>
        </p:txBody>
      </p:sp>
      <p:sp>
        <p:nvSpPr>
          <p:cNvPr id="14" name="4">
            <a:extLst xmlns:a="http://schemas.openxmlformats.org/drawingml/2006/main">
              <a:ext uri="{FF2B5EF4-FFF2-40B4-BE49-F238E27FC236}">
                <a16:creationId xmlns:a16="http://schemas.microsoft.com/office/drawing/2014/main" id="{951EF4C7-7B8F-4DEF-B6C9-EB9E762F724D}"/>
              </a:ext>
            </a:extLst>
          </p:cNvPr>
          <p:cNvSpPr>
            <a:spLocks xmlns:a="http://schemas.openxmlformats.org/drawingml/2006/main" noGrp="1"/>
          </p:cNvSpPr>
          <p:nvPr/>
        </p:nvSpPr>
        <p:spPr>
          <a:xfrm xmlns:a="http://schemas.openxmlformats.org/drawingml/2006/main">
            <a:off x="9220200" y="4524375"/>
            <a:ext cx="5905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600" b="0">
                <a:solidFill>
                  <a:srgbClr val="B39A6A"/>
                </a:solidFill>
                <a:latin typeface="Arial"/>
                <a:ea typeface="Arial"/>
                <a:cs typeface="Arial"/>
              </a:defRPr>
            </a:pPr>
            <a:r>
              <a:rPr sz="3600" b="0">
                <a:solidFill>
                  <a:srgbClr val="B39A6A"/>
                </a:solidFill>
                <a:latin typeface="Arial"/>
                <a:ea typeface="Arial"/>
                <a:cs typeface="Arial"/>
              </a:rPr>
              <a:t>4</a:t>
            </a:r>
          </a:p>
        </p:txBody>
      </p:sp>
      <p:sp>
        <p:nvSpPr>
          <p:cNvPr id="15" name="Monitorización">
            <a:extLst xmlns:a="http://schemas.openxmlformats.org/drawingml/2006/main">
              <a:ext uri="{FF2B5EF4-FFF2-40B4-BE49-F238E27FC236}">
                <a16:creationId xmlns:a16="http://schemas.microsoft.com/office/drawing/2014/main" id="{68D73893-7ED6-4E97-A490-2E1BE69F2DCA}"/>
              </a:ext>
            </a:extLst>
          </p:cNvPr>
          <p:cNvSpPr>
            <a:spLocks xmlns:a="http://schemas.openxmlformats.org/drawingml/2006/main" noGrp="1"/>
          </p:cNvSpPr>
          <p:nvPr/>
        </p:nvSpPr>
        <p:spPr>
          <a:xfrm xmlns:a="http://schemas.openxmlformats.org/drawingml/2006/main">
            <a:off x="9220200" y="5238750"/>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E8E5DC"/>
                </a:solidFill>
                <a:latin typeface="Arial"/>
                <a:ea typeface="Arial"/>
                <a:cs typeface="Arial"/>
              </a:defRPr>
            </a:pPr>
            <a:r>
              <a:rPr sz="2175" b="1">
                <a:solidFill>
                  <a:srgbClr val="E8E5DC"/>
                </a:solidFill>
                <a:latin typeface="Arial"/>
                <a:ea typeface="Arial"/>
                <a:cs typeface="Arial"/>
              </a:rPr>
              <a:t>Monitorización</a:t>
            </a:r>
          </a:p>
        </p:txBody>
      </p:sp>
      <p:sp>
        <p:nvSpPr>
          <p:cNvPr id="16" name="Estado y evidencia">
            <a:extLst xmlns:a="http://schemas.openxmlformats.org/drawingml/2006/main">
              <a:ext uri="{FF2B5EF4-FFF2-40B4-BE49-F238E27FC236}">
                <a16:creationId xmlns:a16="http://schemas.microsoft.com/office/drawing/2014/main" id="{4F8ED2A5-1CEB-40B7-A558-D5E6413E721F}"/>
              </a:ext>
            </a:extLst>
          </p:cNvPr>
          <p:cNvSpPr>
            <a:spLocks xmlns:a="http://schemas.openxmlformats.org/drawingml/2006/main" noGrp="1"/>
          </p:cNvSpPr>
          <p:nvPr/>
        </p:nvSpPr>
        <p:spPr>
          <a:xfrm xmlns:a="http://schemas.openxmlformats.org/drawingml/2006/main">
            <a:off x="9220200" y="5734050"/>
            <a:ext cx="25717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B5B1A8"/>
                </a:solidFill>
                <a:latin typeface="Arial"/>
                <a:ea typeface="Arial"/>
                <a:cs typeface="Arial"/>
              </a:defRPr>
            </a:pPr>
            <a:r>
              <a:rPr sz="1725" b="0">
                <a:solidFill>
                  <a:srgbClr val="B5B1A8"/>
                </a:solidFill>
                <a:latin typeface="Arial"/>
                <a:ea typeface="Arial"/>
                <a:cs typeface="Arial"/>
              </a:rPr>
              <a:t>Estado y evidencia</a:t>
            </a:r>
          </a:p>
        </p:txBody>
      </p:sp>
      <p:sp>
        <p:nvSpPr>
          <p:cNvPr id="17" name="Número de diapositiva">
            <a:extLst xmlns:a="http://schemas.openxmlformats.org/drawingml/2006/main">
              <a:ext uri="{FF2B5EF4-FFF2-40B4-BE49-F238E27FC236}">
                <a16:creationId xmlns:a16="http://schemas.microsoft.com/office/drawing/2014/main" id="{527840F3-8932-4D38-9CAB-8052858AC991}"/>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5</a:t>
            </a:r>
          </a:p>
        </p:txBody>
      </p:sp>
    </p:spTree>
    <p:extLst>
      <p:ext uri="{BB962C8B-B14F-4D97-AF65-F5344CB8AC3E}">
        <p14:creationId xmlns:p14="http://schemas.microsoft.com/office/powerpoint/2010/main" val="754841222"/>
      </p:ext>
    </p:extLst>
  </p:cSld>
</p:sld>
</file>

<file path=ppt/slides/slide6.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Dos modelos con funciones distintas">
            <a:extLst xmlns:a="http://schemas.openxmlformats.org/drawingml/2006/main">
              <a:ext uri="{FF2B5EF4-FFF2-40B4-BE49-F238E27FC236}">
                <a16:creationId xmlns:a16="http://schemas.microsoft.com/office/drawing/2014/main" id="{10EE0E7E-9BD5-4DF6-AEBF-1DB68E6239C6}"/>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Dos modelos con funciones distintas</a:t>
            </a:r>
          </a:p>
        </p:txBody>
      </p:sp>
      <p:sp>
        <p:nvSpPr>
          <p:cNvPr id="3" name="Audio y texto se coordinan dentro del mismo flujo de usuario.">
            <a:extLst xmlns:a="http://schemas.openxmlformats.org/drawingml/2006/main">
              <a:ext uri="{FF2B5EF4-FFF2-40B4-BE49-F238E27FC236}">
                <a16:creationId xmlns:a16="http://schemas.microsoft.com/office/drawing/2014/main" id="{0E965639-8A48-4945-BCF8-F8ED3C3A45DA}"/>
              </a:ext>
            </a:extLst>
          </p:cNvPr>
          <p:cNvSpPr>
            <a:spLocks xmlns:a="http://schemas.openxmlformats.org/drawingml/2006/main" noGrp="1"/>
          </p:cNvSpPr>
          <p:nvPr/>
        </p:nvSpPr>
        <p:spPr>
          <a:xfrm xmlns:a="http://schemas.openxmlformats.org/drawingml/2006/main">
            <a:off x="704850" y="1543050"/>
            <a:ext cx="10572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Audio y texto se coordinan dentro del mismo flujo de usuario.</a:t>
            </a:r>
          </a:p>
        </p:txBody>
      </p:sp>
      <p:sp>
        <p:nvSpPr>
          <p:cNvPr id="4" name="Modelo de voz">
            <a:extLst xmlns:a="http://schemas.openxmlformats.org/drawingml/2006/main">
              <a:ext uri="{FF2B5EF4-FFF2-40B4-BE49-F238E27FC236}">
                <a16:creationId xmlns:a16="http://schemas.microsoft.com/office/drawing/2014/main" id="{87102BE3-4AD1-481F-B830-5654B4129D51}"/>
              </a:ext>
            </a:extLst>
          </p:cNvPr>
          <p:cNvSpPr>
            <a:spLocks xmlns:a="http://schemas.openxmlformats.org/drawingml/2006/main" noGrp="1"/>
          </p:cNvSpPr>
          <p:nvPr/>
        </p:nvSpPr>
        <p:spPr>
          <a:xfrm xmlns:a="http://schemas.openxmlformats.org/drawingml/2006/main">
            <a:off x="704850" y="2562225"/>
            <a:ext cx="485775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550" b="1">
                <a:solidFill>
                  <a:srgbClr val="B39A6A"/>
                </a:solidFill>
                <a:latin typeface="Arial"/>
                <a:ea typeface="Arial"/>
                <a:cs typeface="Arial"/>
              </a:defRPr>
            </a:pPr>
            <a:r>
              <a:rPr sz="2550" b="1">
                <a:solidFill>
                  <a:srgbClr val="B39A6A"/>
                </a:solidFill>
                <a:latin typeface="Arial"/>
                <a:ea typeface="Arial"/>
                <a:cs typeface="Arial"/>
              </a:rPr>
              <a:t>Modelo de voz</a:t>
            </a:r>
          </a:p>
        </p:txBody>
      </p:sp>
      <p:sp>
        <p:nvSpPr>
          <p:cNvPr id="5" name="Whisper">
            <a:extLst xmlns:a="http://schemas.openxmlformats.org/drawingml/2006/main">
              <a:ext uri="{FF2B5EF4-FFF2-40B4-BE49-F238E27FC236}">
                <a16:creationId xmlns:a16="http://schemas.microsoft.com/office/drawing/2014/main" id="{169B8AED-92D9-4789-9416-A9CA9CC09A71}"/>
              </a:ext>
            </a:extLst>
          </p:cNvPr>
          <p:cNvSpPr>
            <a:spLocks xmlns:a="http://schemas.openxmlformats.org/drawingml/2006/main" noGrp="1"/>
          </p:cNvSpPr>
          <p:nvPr/>
        </p:nvSpPr>
        <p:spPr>
          <a:xfrm xmlns:a="http://schemas.openxmlformats.org/drawingml/2006/main">
            <a:off x="704850" y="3257550"/>
            <a:ext cx="49530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725" b="1">
                <a:solidFill>
                  <a:srgbClr val="E8E5DC"/>
                </a:solidFill>
                <a:latin typeface="Arial"/>
                <a:ea typeface="Arial"/>
                <a:cs typeface="Arial"/>
              </a:defRPr>
            </a:pPr>
            <a:r>
              <a:rPr sz="4725" b="1">
                <a:solidFill>
                  <a:srgbClr val="E8E5DC"/>
                </a:solidFill>
                <a:latin typeface="Arial"/>
                <a:ea typeface="Arial"/>
                <a:cs typeface="Arial"/>
              </a:rPr>
              <a:t>Whisper</a:t>
            </a:r>
          </a:p>
        </p:txBody>
      </p:sp>
      <p:sp>
        <p:nvSpPr>
          <p:cNvPr id="6" name="Convierte la grabación en texto que el usuario puede revisar">
            <a:extLst xmlns:a="http://schemas.openxmlformats.org/drawingml/2006/main">
              <a:ext uri="{FF2B5EF4-FFF2-40B4-BE49-F238E27FC236}">
                <a16:creationId xmlns:a16="http://schemas.microsoft.com/office/drawing/2014/main" id="{7E8E511F-77CD-4105-AAA1-A7BFC7720839}"/>
              </a:ext>
            </a:extLst>
          </p:cNvPr>
          <p:cNvSpPr>
            <a:spLocks xmlns:a="http://schemas.openxmlformats.org/drawingml/2006/main" noGrp="1"/>
          </p:cNvSpPr>
          <p:nvPr/>
        </p:nvSpPr>
        <p:spPr>
          <a:xfrm xmlns:a="http://schemas.openxmlformats.org/drawingml/2006/main">
            <a:off x="704850" y="4181475"/>
            <a:ext cx="4857750" cy="923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B5B1A8"/>
                </a:solidFill>
                <a:latin typeface="Arial"/>
                <a:ea typeface="Arial"/>
                <a:cs typeface="Arial"/>
              </a:defRPr>
            </a:pPr>
            <a:r>
              <a:rPr sz="2175" b="0">
                <a:solidFill>
                  <a:srgbClr val="B5B1A8"/>
                </a:solidFill>
                <a:latin typeface="Arial"/>
                <a:ea typeface="Arial"/>
                <a:cs typeface="Arial"/>
              </a:rPr>
              <a:t>Convierte la grabación en texto
que el usuario puede revisar</a:t>
            </a:r>
          </a:p>
        </p:txBody>
      </p:sp>
      <p:sp>
        <p:nvSpPr>
          <p:cNvPr id="7" name="Modelo de lenguaje">
            <a:extLst xmlns:a="http://schemas.openxmlformats.org/drawingml/2006/main">
              <a:ext uri="{FF2B5EF4-FFF2-40B4-BE49-F238E27FC236}">
                <a16:creationId xmlns:a16="http://schemas.microsoft.com/office/drawing/2014/main" id="{FA62A178-C50A-4C5B-9547-C399F43F109D}"/>
              </a:ext>
            </a:extLst>
          </p:cNvPr>
          <p:cNvSpPr>
            <a:spLocks xmlns:a="http://schemas.openxmlformats.org/drawingml/2006/main" noGrp="1"/>
          </p:cNvSpPr>
          <p:nvPr/>
        </p:nvSpPr>
        <p:spPr>
          <a:xfrm xmlns:a="http://schemas.openxmlformats.org/drawingml/2006/main">
            <a:off x="6819900" y="2562225"/>
            <a:ext cx="485775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550" b="1">
                <a:solidFill>
                  <a:srgbClr val="53BA91"/>
                </a:solidFill>
                <a:latin typeface="Arial"/>
                <a:ea typeface="Arial"/>
                <a:cs typeface="Arial"/>
              </a:defRPr>
            </a:pPr>
            <a:r>
              <a:rPr sz="2550" b="1">
                <a:solidFill>
                  <a:srgbClr val="53BA91"/>
                </a:solidFill>
                <a:latin typeface="Arial"/>
                <a:ea typeface="Arial"/>
                <a:cs typeface="Arial"/>
              </a:rPr>
              <a:t>Modelo de lenguaje</a:t>
            </a:r>
          </a:p>
        </p:txBody>
      </p:sp>
      <p:sp>
        <p:nvSpPr>
          <p:cNvPr id="8" name="DeepSeek">
            <a:extLst xmlns:a="http://schemas.openxmlformats.org/drawingml/2006/main">
              <a:ext uri="{FF2B5EF4-FFF2-40B4-BE49-F238E27FC236}">
                <a16:creationId xmlns:a16="http://schemas.microsoft.com/office/drawing/2014/main" id="{143B82A4-4722-4712-B3DF-CBA0B2E22CD3}"/>
              </a:ext>
            </a:extLst>
          </p:cNvPr>
          <p:cNvSpPr>
            <a:spLocks xmlns:a="http://schemas.openxmlformats.org/drawingml/2006/main" noGrp="1"/>
          </p:cNvSpPr>
          <p:nvPr/>
        </p:nvSpPr>
        <p:spPr>
          <a:xfrm xmlns:a="http://schemas.openxmlformats.org/drawingml/2006/main">
            <a:off x="6819900" y="3257550"/>
            <a:ext cx="466725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725" b="1">
                <a:solidFill>
                  <a:srgbClr val="E8E5DC"/>
                </a:solidFill>
                <a:latin typeface="Arial"/>
                <a:ea typeface="Arial"/>
                <a:cs typeface="Arial"/>
              </a:defRPr>
            </a:pPr>
            <a:r>
              <a:rPr sz="4725" b="1">
                <a:solidFill>
                  <a:srgbClr val="E8E5DC"/>
                </a:solidFill>
                <a:latin typeface="Arial"/>
                <a:ea typeface="Arial"/>
                <a:cs typeface="Arial"/>
              </a:rPr>
              <a:t>DeepSeek</a:t>
            </a:r>
          </a:p>
        </p:txBody>
      </p:sp>
      <p:sp>
        <p:nvSpPr>
          <p:cNvPr id="9" name="Consulta datos y crea reglas con diez herramientas tipadas">
            <a:extLst xmlns:a="http://schemas.openxmlformats.org/drawingml/2006/main">
              <a:ext uri="{FF2B5EF4-FFF2-40B4-BE49-F238E27FC236}">
                <a16:creationId xmlns:a16="http://schemas.microsoft.com/office/drawing/2014/main" id="{6D8D7B8E-7CE9-4ED5-8B49-A50333931503}"/>
              </a:ext>
            </a:extLst>
          </p:cNvPr>
          <p:cNvSpPr>
            <a:spLocks xmlns:a="http://schemas.openxmlformats.org/drawingml/2006/main" noGrp="1"/>
          </p:cNvSpPr>
          <p:nvPr/>
        </p:nvSpPr>
        <p:spPr>
          <a:xfrm xmlns:a="http://schemas.openxmlformats.org/drawingml/2006/main">
            <a:off x="6819900" y="4181475"/>
            <a:ext cx="4857750" cy="923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B5B1A8"/>
                </a:solidFill>
                <a:latin typeface="Arial"/>
                <a:ea typeface="Arial"/>
                <a:cs typeface="Arial"/>
              </a:defRPr>
            </a:pPr>
            <a:r>
              <a:rPr sz="2175" b="0">
                <a:solidFill>
                  <a:srgbClr val="B5B1A8"/>
                </a:solidFill>
                <a:latin typeface="Arial"/>
                <a:ea typeface="Arial"/>
                <a:cs typeface="Arial"/>
              </a:rPr>
              <a:t>Consulta datos y crea reglas
con diez herramientas tipadas</a:t>
            </a:r>
          </a:p>
        </p:txBody>
      </p:sp>
      <p:sp>
        <p:nvSpPr>
          <p:cNvPr id="10" name="OpenRouter conecta proveedores. LangChain orquesta las herramientas.">
            <a:extLst xmlns:a="http://schemas.openxmlformats.org/drawingml/2006/main">
              <a:ext uri="{FF2B5EF4-FFF2-40B4-BE49-F238E27FC236}">
                <a16:creationId xmlns:a16="http://schemas.microsoft.com/office/drawing/2014/main" id="{4CD07B59-E550-43D5-964B-B55767EA7C0E}"/>
              </a:ext>
            </a:extLst>
          </p:cNvPr>
          <p:cNvSpPr>
            <a:spLocks xmlns:a="http://schemas.openxmlformats.org/drawingml/2006/main" noGrp="1"/>
          </p:cNvSpPr>
          <p:nvPr/>
        </p:nvSpPr>
        <p:spPr>
          <a:xfrm xmlns:a="http://schemas.openxmlformats.org/drawingml/2006/main">
            <a:off x="704850" y="5629275"/>
            <a:ext cx="108204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E8E5DC"/>
                </a:solidFill>
                <a:latin typeface="Arial"/>
                <a:ea typeface="Arial"/>
                <a:cs typeface="Arial"/>
              </a:defRPr>
            </a:pPr>
            <a:r>
              <a:rPr sz="2025" b="0">
                <a:solidFill>
                  <a:srgbClr val="E8E5DC"/>
                </a:solidFill>
                <a:latin typeface="Arial"/>
                <a:ea typeface="Arial"/>
                <a:cs typeface="Arial"/>
              </a:rPr>
              <a:t>OpenRouter conecta proveedores. LangChain orquesta las herramientas.</a:t>
            </a:r>
          </a:p>
        </p:txBody>
      </p:sp>
      <p:sp>
        <p:nvSpPr>
          <p:cNvPr id="11" name="Número de diapositiva">
            <a:extLst xmlns:a="http://schemas.openxmlformats.org/drawingml/2006/main">
              <a:ext uri="{FF2B5EF4-FFF2-40B4-BE49-F238E27FC236}">
                <a16:creationId xmlns:a16="http://schemas.microsoft.com/office/drawing/2014/main" id="{AB49E903-0534-4F71-A106-FF3754F8DA17}"/>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6</a:t>
            </a:r>
          </a:p>
        </p:txBody>
      </p:sp>
    </p:spTree>
    <p:extLst>
      <p:ext uri="{BB962C8B-B14F-4D97-AF65-F5344CB8AC3E}">
        <p14:creationId xmlns:p14="http://schemas.microsoft.com/office/powerpoint/2010/main" val="324730748"/>
      </p:ext>
    </p:extLst>
  </p:cSld>
</p:sld>
</file>

<file path=ppt/slides/slide7.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La arquitectura del MVP">
            <a:extLst xmlns:a="http://schemas.openxmlformats.org/drawingml/2006/main">
              <a:ext uri="{FF2B5EF4-FFF2-40B4-BE49-F238E27FC236}">
                <a16:creationId xmlns:a16="http://schemas.microsoft.com/office/drawing/2014/main" id="{CE90A757-357F-4FCE-8F7E-F0733BE8AC24}"/>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La arquitectura del MVP</a:t>
            </a:r>
          </a:p>
        </p:txBody>
      </p:sp>
      <p:sp>
        <p:nvSpPr>
          <p:cNvPr id="3" name="Voz o texto">
            <a:extLst xmlns:a="http://schemas.openxmlformats.org/drawingml/2006/main">
              <a:ext uri="{FF2B5EF4-FFF2-40B4-BE49-F238E27FC236}">
                <a16:creationId xmlns:a16="http://schemas.microsoft.com/office/drawing/2014/main" id="{C947AC51-372E-4B92-A270-A450DC49BCC0}"/>
              </a:ext>
            </a:extLst>
          </p:cNvPr>
          <p:cNvSpPr>
            <a:spLocks xmlns:a="http://schemas.openxmlformats.org/drawingml/2006/main" noGrp="1"/>
          </p:cNvSpPr>
          <p:nvPr/>
        </p:nvSpPr>
        <p:spPr>
          <a:xfrm xmlns:a="http://schemas.openxmlformats.org/drawingml/2006/main">
            <a:off x="685800" y="20859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B39A6A"/>
            </a:solidFill>
          </a:ln>
        </p:spPr>
      </p:sp>
      <p:sp>
        <p:nvSpPr>
          <p:cNvPr id="4" name="Voz o texto">
            <a:extLst xmlns:a="http://schemas.openxmlformats.org/drawingml/2006/main">
              <a:ext uri="{FF2B5EF4-FFF2-40B4-BE49-F238E27FC236}">
                <a16:creationId xmlns:a16="http://schemas.microsoft.com/office/drawing/2014/main" id="{695CE7BE-AEC2-460A-94D0-0864DADD1557}"/>
              </a:ext>
            </a:extLst>
          </p:cNvPr>
          <p:cNvSpPr>
            <a:spLocks xmlns:a="http://schemas.openxmlformats.org/drawingml/2006/main" noGrp="1"/>
          </p:cNvSpPr>
          <p:nvPr/>
        </p:nvSpPr>
        <p:spPr>
          <a:xfrm xmlns:a="http://schemas.openxmlformats.org/drawingml/2006/main">
            <a:off x="857250" y="22574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B39A6A"/>
                </a:solidFill>
                <a:latin typeface="Arial"/>
                <a:ea typeface="Arial"/>
                <a:cs typeface="Arial"/>
              </a:defRPr>
            </a:pPr>
            <a:r>
              <a:rPr sz="1800" b="1">
                <a:solidFill>
                  <a:srgbClr val="B39A6A"/>
                </a:solidFill>
                <a:latin typeface="Arial"/>
                <a:ea typeface="Arial"/>
                <a:cs typeface="Arial"/>
              </a:rPr>
              <a:t>Voz o texto</a:t>
            </a:r>
          </a:p>
        </p:txBody>
      </p:sp>
      <p:sp>
        <p:nvSpPr>
          <p:cNvPr id="5" name="React + FastAPI">
            <a:extLst xmlns:a="http://schemas.openxmlformats.org/drawingml/2006/main">
              <a:ext uri="{FF2B5EF4-FFF2-40B4-BE49-F238E27FC236}">
                <a16:creationId xmlns:a16="http://schemas.microsoft.com/office/drawing/2014/main" id="{8E35ED89-783F-4C57-A5FC-76921D579E82}"/>
              </a:ext>
            </a:extLst>
          </p:cNvPr>
          <p:cNvSpPr>
            <a:spLocks xmlns:a="http://schemas.openxmlformats.org/drawingml/2006/main" noGrp="1"/>
          </p:cNvSpPr>
          <p:nvPr/>
        </p:nvSpPr>
        <p:spPr>
          <a:xfrm xmlns:a="http://schemas.openxmlformats.org/drawingml/2006/main">
            <a:off x="857250" y="26479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React + FastAPI</a:t>
            </a:r>
          </a:p>
        </p:txBody>
      </p:sp>
      <p:sp>
        <p:nvSpPr>
          <p:cNvPr id="6" name="Modelos y agente">
            <a:extLst xmlns:a="http://schemas.openxmlformats.org/drawingml/2006/main">
              <a:ext uri="{FF2B5EF4-FFF2-40B4-BE49-F238E27FC236}">
                <a16:creationId xmlns:a16="http://schemas.microsoft.com/office/drawing/2014/main" id="{922F69CB-0803-42A0-94A0-DBE7B1E19BC8}"/>
              </a:ext>
            </a:extLst>
          </p:cNvPr>
          <p:cNvSpPr>
            <a:spLocks xmlns:a="http://schemas.openxmlformats.org/drawingml/2006/main" noGrp="1"/>
          </p:cNvSpPr>
          <p:nvPr/>
        </p:nvSpPr>
        <p:spPr>
          <a:xfrm xmlns:a="http://schemas.openxmlformats.org/drawingml/2006/main">
            <a:off x="3495675" y="20859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B39A6A"/>
            </a:solidFill>
          </a:ln>
        </p:spPr>
      </p:sp>
      <p:sp>
        <p:nvSpPr>
          <p:cNvPr id="7" name="Modelos y agente">
            <a:extLst xmlns:a="http://schemas.openxmlformats.org/drawingml/2006/main">
              <a:ext uri="{FF2B5EF4-FFF2-40B4-BE49-F238E27FC236}">
                <a16:creationId xmlns:a16="http://schemas.microsoft.com/office/drawing/2014/main" id="{447606D1-D0DF-499D-8B56-FCE312870701}"/>
              </a:ext>
            </a:extLst>
          </p:cNvPr>
          <p:cNvSpPr>
            <a:spLocks xmlns:a="http://schemas.openxmlformats.org/drawingml/2006/main" noGrp="1"/>
          </p:cNvSpPr>
          <p:nvPr/>
        </p:nvSpPr>
        <p:spPr>
          <a:xfrm xmlns:a="http://schemas.openxmlformats.org/drawingml/2006/main">
            <a:off x="3667125" y="22574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B39A6A"/>
                </a:solidFill>
                <a:latin typeface="Arial"/>
                <a:ea typeface="Arial"/>
                <a:cs typeface="Arial"/>
              </a:defRPr>
            </a:pPr>
            <a:r>
              <a:rPr sz="1800" b="1">
                <a:solidFill>
                  <a:srgbClr val="B39A6A"/>
                </a:solidFill>
                <a:latin typeface="Arial"/>
                <a:ea typeface="Arial"/>
                <a:cs typeface="Arial"/>
              </a:rPr>
              <a:t>Modelos y agente</a:t>
            </a:r>
          </a:p>
        </p:txBody>
      </p:sp>
      <p:sp>
        <p:nvSpPr>
          <p:cNvPr id="8" name="Transcripción + tools">
            <a:extLst xmlns:a="http://schemas.openxmlformats.org/drawingml/2006/main">
              <a:ext uri="{FF2B5EF4-FFF2-40B4-BE49-F238E27FC236}">
                <a16:creationId xmlns:a16="http://schemas.microsoft.com/office/drawing/2014/main" id="{5454C4EC-4189-4ECD-8296-EC7CB3A0B897}"/>
              </a:ext>
            </a:extLst>
          </p:cNvPr>
          <p:cNvSpPr>
            <a:spLocks xmlns:a="http://schemas.openxmlformats.org/drawingml/2006/main" noGrp="1"/>
          </p:cNvSpPr>
          <p:nvPr/>
        </p:nvSpPr>
        <p:spPr>
          <a:xfrm xmlns:a="http://schemas.openxmlformats.org/drawingml/2006/main">
            <a:off x="3667125" y="26479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Transcripción + tools</a:t>
            </a:r>
          </a:p>
        </p:txBody>
      </p:sp>
      <p:sp>
        <p:nvSpPr>
          <p:cNvPr id="9" name="Regla validada">
            <a:extLst xmlns:a="http://schemas.openxmlformats.org/drawingml/2006/main">
              <a:ext uri="{FF2B5EF4-FFF2-40B4-BE49-F238E27FC236}">
                <a16:creationId xmlns:a16="http://schemas.microsoft.com/office/drawing/2014/main" id="{19654846-37C4-4084-B2BA-F7B7826E455B}"/>
              </a:ext>
            </a:extLst>
          </p:cNvPr>
          <p:cNvSpPr>
            <a:spLocks xmlns:a="http://schemas.openxmlformats.org/drawingml/2006/main" noGrp="1"/>
          </p:cNvSpPr>
          <p:nvPr/>
        </p:nvSpPr>
        <p:spPr>
          <a:xfrm xmlns:a="http://schemas.openxmlformats.org/drawingml/2006/main">
            <a:off x="6305550" y="20859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B39A6A"/>
            </a:solidFill>
          </a:ln>
        </p:spPr>
      </p:sp>
      <p:sp>
        <p:nvSpPr>
          <p:cNvPr id="10" name="Regla validada">
            <a:extLst xmlns:a="http://schemas.openxmlformats.org/drawingml/2006/main">
              <a:ext uri="{FF2B5EF4-FFF2-40B4-BE49-F238E27FC236}">
                <a16:creationId xmlns:a16="http://schemas.microsoft.com/office/drawing/2014/main" id="{670A1F2E-D69F-4444-84CB-0C8B5736D165}"/>
              </a:ext>
            </a:extLst>
          </p:cNvPr>
          <p:cNvSpPr>
            <a:spLocks xmlns:a="http://schemas.openxmlformats.org/drawingml/2006/main" noGrp="1"/>
          </p:cNvSpPr>
          <p:nvPr/>
        </p:nvSpPr>
        <p:spPr>
          <a:xfrm xmlns:a="http://schemas.openxmlformats.org/drawingml/2006/main">
            <a:off x="6477000" y="22574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B39A6A"/>
                </a:solidFill>
                <a:latin typeface="Arial"/>
                <a:ea typeface="Arial"/>
                <a:cs typeface="Arial"/>
              </a:defRPr>
            </a:pPr>
            <a:r>
              <a:rPr sz="1800" b="1">
                <a:solidFill>
                  <a:srgbClr val="B39A6A"/>
                </a:solidFill>
                <a:latin typeface="Arial"/>
                <a:ea typeface="Arial"/>
                <a:cs typeface="Arial"/>
              </a:rPr>
              <a:t>Regla validada</a:t>
            </a:r>
          </a:p>
        </p:txBody>
      </p:sp>
      <p:sp>
        <p:nvSpPr>
          <p:cNvPr id="11" name="AlertService">
            <a:extLst xmlns:a="http://schemas.openxmlformats.org/drawingml/2006/main">
              <a:ext uri="{FF2B5EF4-FFF2-40B4-BE49-F238E27FC236}">
                <a16:creationId xmlns:a16="http://schemas.microsoft.com/office/drawing/2014/main" id="{9F9E95E5-B34C-4CBB-A32D-3583D40758E1}"/>
              </a:ext>
            </a:extLst>
          </p:cNvPr>
          <p:cNvSpPr>
            <a:spLocks xmlns:a="http://schemas.openxmlformats.org/drawingml/2006/main" noGrp="1"/>
          </p:cNvSpPr>
          <p:nvPr/>
        </p:nvSpPr>
        <p:spPr>
          <a:xfrm xmlns:a="http://schemas.openxmlformats.org/drawingml/2006/main">
            <a:off x="6477000" y="26479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AlertService</a:t>
            </a:r>
          </a:p>
        </p:txBody>
      </p:sp>
      <p:sp>
        <p:nvSpPr>
          <p:cNvPr id="12" name="Persistencia">
            <a:extLst xmlns:a="http://schemas.openxmlformats.org/drawingml/2006/main">
              <a:ext uri="{FF2B5EF4-FFF2-40B4-BE49-F238E27FC236}">
                <a16:creationId xmlns:a16="http://schemas.microsoft.com/office/drawing/2014/main" id="{18B5A428-DC2F-4F5A-ACD6-976DC7973437}"/>
              </a:ext>
            </a:extLst>
          </p:cNvPr>
          <p:cNvSpPr>
            <a:spLocks xmlns:a="http://schemas.openxmlformats.org/drawingml/2006/main" noGrp="1"/>
          </p:cNvSpPr>
          <p:nvPr/>
        </p:nvSpPr>
        <p:spPr>
          <a:xfrm xmlns:a="http://schemas.openxmlformats.org/drawingml/2006/main">
            <a:off x="9115425" y="20859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B39A6A"/>
            </a:solidFill>
          </a:ln>
        </p:spPr>
      </p:sp>
      <p:sp>
        <p:nvSpPr>
          <p:cNvPr id="13" name="Persistencia">
            <a:extLst xmlns:a="http://schemas.openxmlformats.org/drawingml/2006/main">
              <a:ext uri="{FF2B5EF4-FFF2-40B4-BE49-F238E27FC236}">
                <a16:creationId xmlns:a16="http://schemas.microsoft.com/office/drawing/2014/main" id="{3A5D83A0-D77E-4454-9783-644DDB251564}"/>
              </a:ext>
            </a:extLst>
          </p:cNvPr>
          <p:cNvSpPr>
            <a:spLocks xmlns:a="http://schemas.openxmlformats.org/drawingml/2006/main" noGrp="1"/>
          </p:cNvSpPr>
          <p:nvPr/>
        </p:nvSpPr>
        <p:spPr>
          <a:xfrm xmlns:a="http://schemas.openxmlformats.org/drawingml/2006/main">
            <a:off x="9286875" y="22574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B39A6A"/>
                </a:solidFill>
                <a:latin typeface="Arial"/>
                <a:ea typeface="Arial"/>
                <a:cs typeface="Arial"/>
              </a:defRPr>
            </a:pPr>
            <a:r>
              <a:rPr sz="1800" b="1">
                <a:solidFill>
                  <a:srgbClr val="B39A6A"/>
                </a:solidFill>
                <a:latin typeface="Arial"/>
                <a:ea typeface="Arial"/>
                <a:cs typeface="Arial"/>
              </a:rPr>
              <a:t>Persistencia</a:t>
            </a:r>
          </a:p>
        </p:txBody>
      </p:sp>
      <p:sp>
        <p:nvSpPr>
          <p:cNvPr id="14" name="PostgreSQL">
            <a:extLst xmlns:a="http://schemas.openxmlformats.org/drawingml/2006/main">
              <a:ext uri="{FF2B5EF4-FFF2-40B4-BE49-F238E27FC236}">
                <a16:creationId xmlns:a16="http://schemas.microsoft.com/office/drawing/2014/main" id="{49B20F18-52D0-43CA-9040-4B208C4283AD}"/>
              </a:ext>
            </a:extLst>
          </p:cNvPr>
          <p:cNvSpPr>
            <a:spLocks xmlns:a="http://schemas.openxmlformats.org/drawingml/2006/main" noGrp="1"/>
          </p:cNvSpPr>
          <p:nvPr/>
        </p:nvSpPr>
        <p:spPr>
          <a:xfrm xmlns:a="http://schemas.openxmlformats.org/drawingml/2006/main">
            <a:off x="9286875" y="26479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PostgreSQL</a:t>
            </a:r>
          </a:p>
        </p:txBody>
      </p:sp>
      <p:sp>
        <p:nvSpPr>
          <p:cNvPr id="15" name="Hyperliquid">
            <a:extLst xmlns:a="http://schemas.openxmlformats.org/drawingml/2006/main">
              <a:ext uri="{FF2B5EF4-FFF2-40B4-BE49-F238E27FC236}">
                <a16:creationId xmlns:a16="http://schemas.microsoft.com/office/drawing/2014/main" id="{55233724-73AC-4E07-A3D0-8181CE27E088}"/>
              </a:ext>
            </a:extLst>
          </p:cNvPr>
          <p:cNvSpPr>
            <a:spLocks xmlns:a="http://schemas.openxmlformats.org/drawingml/2006/main" noGrp="1"/>
          </p:cNvSpPr>
          <p:nvPr/>
        </p:nvSpPr>
        <p:spPr>
          <a:xfrm xmlns:a="http://schemas.openxmlformats.org/drawingml/2006/main">
            <a:off x="685800" y="42957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53BA91"/>
            </a:solidFill>
          </a:ln>
        </p:spPr>
      </p:sp>
      <p:sp>
        <p:nvSpPr>
          <p:cNvPr id="16" name="Hyperliquid">
            <a:extLst xmlns:a="http://schemas.openxmlformats.org/drawingml/2006/main">
              <a:ext uri="{FF2B5EF4-FFF2-40B4-BE49-F238E27FC236}">
                <a16:creationId xmlns:a16="http://schemas.microsoft.com/office/drawing/2014/main" id="{B29BA463-D2BA-4036-A2A9-4F69B1D1AC92}"/>
              </a:ext>
            </a:extLst>
          </p:cNvPr>
          <p:cNvSpPr>
            <a:spLocks xmlns:a="http://schemas.openxmlformats.org/drawingml/2006/main" noGrp="1"/>
          </p:cNvSpPr>
          <p:nvPr/>
        </p:nvSpPr>
        <p:spPr>
          <a:xfrm xmlns:a="http://schemas.openxmlformats.org/drawingml/2006/main">
            <a:off x="857250" y="44672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53BA91"/>
                </a:solidFill>
                <a:latin typeface="Arial"/>
                <a:ea typeface="Arial"/>
                <a:cs typeface="Arial"/>
              </a:defRPr>
            </a:pPr>
            <a:r>
              <a:rPr sz="1800" b="1">
                <a:solidFill>
                  <a:srgbClr val="53BA91"/>
                </a:solidFill>
                <a:latin typeface="Arial"/>
                <a:ea typeface="Arial"/>
                <a:cs typeface="Arial"/>
              </a:rPr>
              <a:t>Hyperliquid</a:t>
            </a:r>
          </a:p>
        </p:txBody>
      </p:sp>
      <p:sp>
        <p:nvSpPr>
          <p:cNvPr id="17" name="WebSocket + REST">
            <a:extLst xmlns:a="http://schemas.openxmlformats.org/drawingml/2006/main">
              <a:ext uri="{FF2B5EF4-FFF2-40B4-BE49-F238E27FC236}">
                <a16:creationId xmlns:a16="http://schemas.microsoft.com/office/drawing/2014/main" id="{144DE022-1F5D-47E2-A9AF-CDC2CE9E231C}"/>
              </a:ext>
            </a:extLst>
          </p:cNvPr>
          <p:cNvSpPr>
            <a:spLocks xmlns:a="http://schemas.openxmlformats.org/drawingml/2006/main" noGrp="1"/>
          </p:cNvSpPr>
          <p:nvPr/>
        </p:nvSpPr>
        <p:spPr>
          <a:xfrm xmlns:a="http://schemas.openxmlformats.org/drawingml/2006/main">
            <a:off x="857250" y="48577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WebSocket + REST</a:t>
            </a:r>
          </a:p>
        </p:txBody>
      </p:sp>
      <p:sp>
        <p:nvSpPr>
          <p:cNvPr id="18" name="Datos de mercado">
            <a:extLst xmlns:a="http://schemas.openxmlformats.org/drawingml/2006/main">
              <a:ext uri="{FF2B5EF4-FFF2-40B4-BE49-F238E27FC236}">
                <a16:creationId xmlns:a16="http://schemas.microsoft.com/office/drawing/2014/main" id="{187D3ECA-5C3F-43E6-A6AF-76494EAA3B25}"/>
              </a:ext>
            </a:extLst>
          </p:cNvPr>
          <p:cNvSpPr>
            <a:spLocks xmlns:a="http://schemas.openxmlformats.org/drawingml/2006/main" noGrp="1"/>
          </p:cNvSpPr>
          <p:nvPr/>
        </p:nvSpPr>
        <p:spPr>
          <a:xfrm xmlns:a="http://schemas.openxmlformats.org/drawingml/2006/main">
            <a:off x="3495675" y="42957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53BA91"/>
            </a:solidFill>
          </a:ln>
        </p:spPr>
      </p:sp>
      <p:sp>
        <p:nvSpPr>
          <p:cNvPr id="19" name="Datos de mercado">
            <a:extLst xmlns:a="http://schemas.openxmlformats.org/drawingml/2006/main">
              <a:ext uri="{FF2B5EF4-FFF2-40B4-BE49-F238E27FC236}">
                <a16:creationId xmlns:a16="http://schemas.microsoft.com/office/drawing/2014/main" id="{D80EA0A9-7149-453E-83FF-3328BE4C6DD3}"/>
              </a:ext>
            </a:extLst>
          </p:cNvPr>
          <p:cNvSpPr>
            <a:spLocks xmlns:a="http://schemas.openxmlformats.org/drawingml/2006/main" noGrp="1"/>
          </p:cNvSpPr>
          <p:nvPr/>
        </p:nvSpPr>
        <p:spPr>
          <a:xfrm xmlns:a="http://schemas.openxmlformats.org/drawingml/2006/main">
            <a:off x="3667125" y="44672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53BA91"/>
                </a:solidFill>
                <a:latin typeface="Arial"/>
                <a:ea typeface="Arial"/>
                <a:cs typeface="Arial"/>
              </a:defRPr>
            </a:pPr>
            <a:r>
              <a:rPr sz="1800" b="1">
                <a:solidFill>
                  <a:srgbClr val="53BA91"/>
                </a:solidFill>
                <a:latin typeface="Arial"/>
                <a:ea typeface="Arial"/>
                <a:cs typeface="Arial"/>
              </a:rPr>
              <a:t>Datos de mercado</a:t>
            </a:r>
          </a:p>
        </p:txBody>
      </p:sp>
      <p:sp>
        <p:nvSpPr>
          <p:cNvPr id="20" name="MarketDataService">
            <a:extLst xmlns:a="http://schemas.openxmlformats.org/drawingml/2006/main">
              <a:ext uri="{FF2B5EF4-FFF2-40B4-BE49-F238E27FC236}">
                <a16:creationId xmlns:a16="http://schemas.microsoft.com/office/drawing/2014/main" id="{8F2762FA-3F8F-4A37-BC30-0E28DF4DE977}"/>
              </a:ext>
            </a:extLst>
          </p:cNvPr>
          <p:cNvSpPr>
            <a:spLocks xmlns:a="http://schemas.openxmlformats.org/drawingml/2006/main" noGrp="1"/>
          </p:cNvSpPr>
          <p:nvPr/>
        </p:nvSpPr>
        <p:spPr>
          <a:xfrm xmlns:a="http://schemas.openxmlformats.org/drawingml/2006/main">
            <a:off x="3667125" y="48577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MarketDataService</a:t>
            </a:r>
          </a:p>
        </p:txBody>
      </p:sp>
      <p:sp>
        <p:nvSpPr>
          <p:cNvPr id="21" name="Motor de reglas">
            <a:extLst xmlns:a="http://schemas.openxmlformats.org/drawingml/2006/main">
              <a:ext uri="{FF2B5EF4-FFF2-40B4-BE49-F238E27FC236}">
                <a16:creationId xmlns:a16="http://schemas.microsoft.com/office/drawing/2014/main" id="{F1083357-C81F-47F2-8BAE-ADCCF0739AD1}"/>
              </a:ext>
            </a:extLst>
          </p:cNvPr>
          <p:cNvSpPr>
            <a:spLocks xmlns:a="http://schemas.openxmlformats.org/drawingml/2006/main" noGrp="1"/>
          </p:cNvSpPr>
          <p:nvPr/>
        </p:nvSpPr>
        <p:spPr>
          <a:xfrm xmlns:a="http://schemas.openxmlformats.org/drawingml/2006/main">
            <a:off x="6305550" y="42957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53BA91"/>
            </a:solidFill>
          </a:ln>
        </p:spPr>
      </p:sp>
      <p:sp>
        <p:nvSpPr>
          <p:cNvPr id="22" name="Motor de reglas">
            <a:extLst xmlns:a="http://schemas.openxmlformats.org/drawingml/2006/main">
              <a:ext uri="{FF2B5EF4-FFF2-40B4-BE49-F238E27FC236}">
                <a16:creationId xmlns:a16="http://schemas.microsoft.com/office/drawing/2014/main" id="{3E16F230-DF02-42E4-AA63-2F27FEC2CFBE}"/>
              </a:ext>
            </a:extLst>
          </p:cNvPr>
          <p:cNvSpPr>
            <a:spLocks xmlns:a="http://schemas.openxmlformats.org/drawingml/2006/main" noGrp="1"/>
          </p:cNvSpPr>
          <p:nvPr/>
        </p:nvSpPr>
        <p:spPr>
          <a:xfrm xmlns:a="http://schemas.openxmlformats.org/drawingml/2006/main">
            <a:off x="6477000" y="44672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53BA91"/>
                </a:solidFill>
                <a:latin typeface="Arial"/>
                <a:ea typeface="Arial"/>
                <a:cs typeface="Arial"/>
              </a:defRPr>
            </a:pPr>
            <a:r>
              <a:rPr sz="1800" b="1">
                <a:solidFill>
                  <a:srgbClr val="53BA91"/>
                </a:solidFill>
                <a:latin typeface="Arial"/>
                <a:ea typeface="Arial"/>
                <a:cs typeface="Arial"/>
              </a:rPr>
              <a:t>Motor de reglas</a:t>
            </a:r>
          </a:p>
        </p:txBody>
      </p:sp>
      <p:sp>
        <p:nvSpPr>
          <p:cNvPr id="23" name="Ventanas + calidad">
            <a:extLst xmlns:a="http://schemas.openxmlformats.org/drawingml/2006/main">
              <a:ext uri="{FF2B5EF4-FFF2-40B4-BE49-F238E27FC236}">
                <a16:creationId xmlns:a16="http://schemas.microsoft.com/office/drawing/2014/main" id="{6620BCE7-E85E-4D4E-AFAB-64548A1F8EC9}"/>
              </a:ext>
            </a:extLst>
          </p:cNvPr>
          <p:cNvSpPr>
            <a:spLocks xmlns:a="http://schemas.openxmlformats.org/drawingml/2006/main" noGrp="1"/>
          </p:cNvSpPr>
          <p:nvPr/>
        </p:nvSpPr>
        <p:spPr>
          <a:xfrm xmlns:a="http://schemas.openxmlformats.org/drawingml/2006/main">
            <a:off x="6477000" y="48577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Ventanas + calidad</a:t>
            </a:r>
          </a:p>
        </p:txBody>
      </p:sp>
      <p:sp>
        <p:nvSpPr>
          <p:cNvPr id="24" name="Evento">
            <a:extLst xmlns:a="http://schemas.openxmlformats.org/drawingml/2006/main">
              <a:ext uri="{FF2B5EF4-FFF2-40B4-BE49-F238E27FC236}">
                <a16:creationId xmlns:a16="http://schemas.microsoft.com/office/drawing/2014/main" id="{9789E87B-1025-488B-835F-B639C810FF03}"/>
              </a:ext>
            </a:extLst>
          </p:cNvPr>
          <p:cNvSpPr>
            <a:spLocks xmlns:a="http://schemas.openxmlformats.org/drawingml/2006/main" noGrp="1"/>
          </p:cNvSpPr>
          <p:nvPr/>
        </p:nvSpPr>
        <p:spPr>
          <a:xfrm xmlns:a="http://schemas.openxmlformats.org/drawingml/2006/main">
            <a:off x="9115425" y="4295775"/>
            <a:ext cx="2381250" cy="1028700"/>
          </a:xfrm>
          <a:prstGeom xmlns:a="http://schemas.openxmlformats.org/drawingml/2006/main" prst="rect">
            <a:avLst/>
          </a:prstGeom>
          <a:solidFill xmlns:a="http://schemas.openxmlformats.org/drawingml/2006/main">
            <a:srgbClr val="181713"/>
          </a:solidFill>
          <a:ln xmlns:a="http://schemas.openxmlformats.org/drawingml/2006/main" w="9525">
            <a:solidFill>
              <a:srgbClr val="53BA91"/>
            </a:solidFill>
          </a:ln>
        </p:spPr>
      </p:sp>
      <p:sp>
        <p:nvSpPr>
          <p:cNvPr id="25" name="Evento">
            <a:extLst xmlns:a="http://schemas.openxmlformats.org/drawingml/2006/main">
              <a:ext uri="{FF2B5EF4-FFF2-40B4-BE49-F238E27FC236}">
                <a16:creationId xmlns:a16="http://schemas.microsoft.com/office/drawing/2014/main" id="{25E8F249-7369-4BE8-89AB-D36FF02DDB96}"/>
              </a:ext>
            </a:extLst>
          </p:cNvPr>
          <p:cNvSpPr>
            <a:spLocks xmlns:a="http://schemas.openxmlformats.org/drawingml/2006/main" noGrp="1"/>
          </p:cNvSpPr>
          <p:nvPr/>
        </p:nvSpPr>
        <p:spPr>
          <a:xfrm xmlns:a="http://schemas.openxmlformats.org/drawingml/2006/main">
            <a:off x="9286875" y="4467225"/>
            <a:ext cx="2038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1">
                <a:solidFill>
                  <a:srgbClr val="53BA91"/>
                </a:solidFill>
                <a:latin typeface="Arial"/>
                <a:ea typeface="Arial"/>
                <a:cs typeface="Arial"/>
              </a:defRPr>
            </a:pPr>
            <a:r>
              <a:rPr sz="1800" b="1">
                <a:solidFill>
                  <a:srgbClr val="53BA91"/>
                </a:solidFill>
                <a:latin typeface="Arial"/>
                <a:ea typeface="Arial"/>
                <a:cs typeface="Arial"/>
              </a:rPr>
              <a:t>Evento</a:t>
            </a:r>
          </a:p>
        </p:txBody>
      </p:sp>
      <p:sp>
        <p:nvSpPr>
          <p:cNvPr id="26" name="Evidencia + historial">
            <a:extLst xmlns:a="http://schemas.openxmlformats.org/drawingml/2006/main">
              <a:ext uri="{FF2B5EF4-FFF2-40B4-BE49-F238E27FC236}">
                <a16:creationId xmlns:a16="http://schemas.microsoft.com/office/drawing/2014/main" id="{F594E43C-78D6-451B-89EE-BB0389D2119D}"/>
              </a:ext>
            </a:extLst>
          </p:cNvPr>
          <p:cNvSpPr>
            <a:spLocks xmlns:a="http://schemas.openxmlformats.org/drawingml/2006/main" noGrp="1"/>
          </p:cNvSpPr>
          <p:nvPr/>
        </p:nvSpPr>
        <p:spPr>
          <a:xfrm xmlns:a="http://schemas.openxmlformats.org/drawingml/2006/main">
            <a:off x="9286875" y="4857750"/>
            <a:ext cx="20383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00" b="0">
                <a:solidFill>
                  <a:srgbClr val="B5B1A8"/>
                </a:solidFill>
                <a:latin typeface="Arial"/>
                <a:ea typeface="Arial"/>
                <a:cs typeface="Arial"/>
              </a:defRPr>
            </a:pPr>
            <a:r>
              <a:rPr sz="1500" b="0">
                <a:solidFill>
                  <a:srgbClr val="B5B1A8"/>
                </a:solidFill>
                <a:latin typeface="Arial"/>
                <a:ea typeface="Arial"/>
                <a:cs typeface="Arial"/>
              </a:rPr>
              <a:t>Evidencia + historial</a:t>
            </a:r>
          </a:p>
        </p:txBody>
      </p:sp>
      <p:sp>
        <p:nvSpPr>
          <p:cNvPr id="27" name="Conexión del flujo">
            <a:extLst xmlns:a="http://schemas.openxmlformats.org/drawingml/2006/main">
              <a:ext uri="{FF2B5EF4-FFF2-40B4-BE49-F238E27FC236}">
                <a16:creationId xmlns:a16="http://schemas.microsoft.com/office/drawing/2014/main" id="{C0F31605-5F91-4B02-9AA2-13B0D477B35F}"/>
              </a:ext>
            </a:extLst>
          </p:cNvPr>
          <p:cNvSpPr>
            <a:spLocks xmlns:a="http://schemas.openxmlformats.org/drawingml/2006/main" noGrp="1"/>
          </p:cNvSpPr>
          <p:nvPr/>
        </p:nvSpPr>
        <p:spPr>
          <a:xfrm xmlns:a="http://schemas.openxmlformats.org/drawingml/2006/main">
            <a:off x="3067050" y="2600325"/>
            <a:ext cx="333375" cy="0"/>
          </a:xfrm>
          <a:prstGeom xmlns:a="http://schemas.openxmlformats.org/drawingml/2006/main" prst="line">
            <a:avLst/>
          </a:prstGeom>
          <a:ln xmlns:a="http://schemas.openxmlformats.org/drawingml/2006/main" w="19050">
            <a:solidFill>
              <a:srgbClr val="B39A6A"/>
            </a:solidFill>
            <a:headEnd type="none"/>
            <a:tailEnd type="triangle"/>
          </a:ln>
        </p:spPr>
      </p:sp>
      <p:sp>
        <p:nvSpPr>
          <p:cNvPr id="28" name="Conexión del flujo">
            <a:extLst xmlns:a="http://schemas.openxmlformats.org/drawingml/2006/main">
              <a:ext uri="{FF2B5EF4-FFF2-40B4-BE49-F238E27FC236}">
                <a16:creationId xmlns:a16="http://schemas.microsoft.com/office/drawing/2014/main" id="{327660C0-B3D3-482C-A937-9012B66A728E}"/>
              </a:ext>
            </a:extLst>
          </p:cNvPr>
          <p:cNvSpPr>
            <a:spLocks xmlns:a="http://schemas.openxmlformats.org/drawingml/2006/main" noGrp="1"/>
          </p:cNvSpPr>
          <p:nvPr/>
        </p:nvSpPr>
        <p:spPr>
          <a:xfrm xmlns:a="http://schemas.openxmlformats.org/drawingml/2006/main">
            <a:off x="5876925" y="2600325"/>
            <a:ext cx="333375" cy="0"/>
          </a:xfrm>
          <a:prstGeom xmlns:a="http://schemas.openxmlformats.org/drawingml/2006/main" prst="line">
            <a:avLst/>
          </a:prstGeom>
          <a:ln xmlns:a="http://schemas.openxmlformats.org/drawingml/2006/main" w="19050">
            <a:solidFill>
              <a:srgbClr val="B39A6A"/>
            </a:solidFill>
            <a:headEnd type="none"/>
            <a:tailEnd type="triangle"/>
          </a:ln>
        </p:spPr>
      </p:sp>
      <p:sp>
        <p:nvSpPr>
          <p:cNvPr id="29" name="Conexión del flujo">
            <a:extLst xmlns:a="http://schemas.openxmlformats.org/drawingml/2006/main">
              <a:ext uri="{FF2B5EF4-FFF2-40B4-BE49-F238E27FC236}">
                <a16:creationId xmlns:a16="http://schemas.microsoft.com/office/drawing/2014/main" id="{A83ADFD6-0CBA-48AC-BCDC-312A8C43AAE5}"/>
              </a:ext>
            </a:extLst>
          </p:cNvPr>
          <p:cNvSpPr>
            <a:spLocks xmlns:a="http://schemas.openxmlformats.org/drawingml/2006/main" noGrp="1"/>
          </p:cNvSpPr>
          <p:nvPr/>
        </p:nvSpPr>
        <p:spPr>
          <a:xfrm xmlns:a="http://schemas.openxmlformats.org/drawingml/2006/main">
            <a:off x="8686800" y="2600325"/>
            <a:ext cx="333375" cy="0"/>
          </a:xfrm>
          <a:prstGeom xmlns:a="http://schemas.openxmlformats.org/drawingml/2006/main" prst="line">
            <a:avLst/>
          </a:prstGeom>
          <a:ln xmlns:a="http://schemas.openxmlformats.org/drawingml/2006/main" w="19050">
            <a:solidFill>
              <a:srgbClr val="B39A6A"/>
            </a:solidFill>
            <a:headEnd type="none"/>
            <a:tailEnd type="triangle"/>
          </a:ln>
        </p:spPr>
      </p:sp>
      <p:sp>
        <p:nvSpPr>
          <p:cNvPr id="30" name="Conexión del flujo">
            <a:extLst xmlns:a="http://schemas.openxmlformats.org/drawingml/2006/main">
              <a:ext uri="{FF2B5EF4-FFF2-40B4-BE49-F238E27FC236}">
                <a16:creationId xmlns:a16="http://schemas.microsoft.com/office/drawing/2014/main" id="{7B9D62A5-229A-4A1A-954A-C8B30E9622D0}"/>
              </a:ext>
            </a:extLst>
          </p:cNvPr>
          <p:cNvSpPr>
            <a:spLocks xmlns:a="http://schemas.openxmlformats.org/drawingml/2006/main" noGrp="1"/>
          </p:cNvSpPr>
          <p:nvPr/>
        </p:nvSpPr>
        <p:spPr>
          <a:xfrm xmlns:a="http://schemas.openxmlformats.org/drawingml/2006/main">
            <a:off x="3067050" y="4810125"/>
            <a:ext cx="333375" cy="0"/>
          </a:xfrm>
          <a:prstGeom xmlns:a="http://schemas.openxmlformats.org/drawingml/2006/main" prst="line">
            <a:avLst/>
          </a:prstGeom>
          <a:ln xmlns:a="http://schemas.openxmlformats.org/drawingml/2006/main" w="19050">
            <a:solidFill>
              <a:srgbClr val="53BA91"/>
            </a:solidFill>
            <a:headEnd type="none"/>
            <a:tailEnd type="triangle"/>
          </a:ln>
        </p:spPr>
      </p:sp>
      <p:sp>
        <p:nvSpPr>
          <p:cNvPr id="31" name="Conexión del flujo">
            <a:extLst xmlns:a="http://schemas.openxmlformats.org/drawingml/2006/main">
              <a:ext uri="{FF2B5EF4-FFF2-40B4-BE49-F238E27FC236}">
                <a16:creationId xmlns:a16="http://schemas.microsoft.com/office/drawing/2014/main" id="{EB6215A9-DD91-49EE-A2B7-8ED164362613}"/>
              </a:ext>
            </a:extLst>
          </p:cNvPr>
          <p:cNvSpPr>
            <a:spLocks xmlns:a="http://schemas.openxmlformats.org/drawingml/2006/main" noGrp="1"/>
          </p:cNvSpPr>
          <p:nvPr/>
        </p:nvSpPr>
        <p:spPr>
          <a:xfrm xmlns:a="http://schemas.openxmlformats.org/drawingml/2006/main">
            <a:off x="5876925" y="4810125"/>
            <a:ext cx="333375" cy="0"/>
          </a:xfrm>
          <a:prstGeom xmlns:a="http://schemas.openxmlformats.org/drawingml/2006/main" prst="line">
            <a:avLst/>
          </a:prstGeom>
          <a:ln xmlns:a="http://schemas.openxmlformats.org/drawingml/2006/main" w="19050">
            <a:solidFill>
              <a:srgbClr val="53BA91"/>
            </a:solidFill>
            <a:headEnd type="none"/>
            <a:tailEnd type="triangle"/>
          </a:ln>
        </p:spPr>
      </p:sp>
      <p:sp>
        <p:nvSpPr>
          <p:cNvPr id="32" name="Conexión del flujo">
            <a:extLst xmlns:a="http://schemas.openxmlformats.org/drawingml/2006/main">
              <a:ext uri="{FF2B5EF4-FFF2-40B4-BE49-F238E27FC236}">
                <a16:creationId xmlns:a16="http://schemas.microsoft.com/office/drawing/2014/main" id="{4D5F8A3B-9A13-4C3C-9CBE-9CD2CD500520}"/>
              </a:ext>
            </a:extLst>
          </p:cNvPr>
          <p:cNvSpPr>
            <a:spLocks xmlns:a="http://schemas.openxmlformats.org/drawingml/2006/main" noGrp="1"/>
          </p:cNvSpPr>
          <p:nvPr/>
        </p:nvSpPr>
        <p:spPr>
          <a:xfrm xmlns:a="http://schemas.openxmlformats.org/drawingml/2006/main">
            <a:off x="8686800" y="4810125"/>
            <a:ext cx="333375" cy="0"/>
          </a:xfrm>
          <a:prstGeom xmlns:a="http://schemas.openxmlformats.org/drawingml/2006/main" prst="line">
            <a:avLst/>
          </a:prstGeom>
          <a:ln xmlns:a="http://schemas.openxmlformats.org/drawingml/2006/main" w="19050">
            <a:solidFill>
              <a:srgbClr val="53BA91"/>
            </a:solidFill>
            <a:headEnd type="none"/>
            <a:tailEnd type="triangle"/>
          </a:ln>
        </p:spPr>
      </p:sp>
      <p:sp>
        <p:nvSpPr>
          <p:cNvPr id="33" name="Conexión del flujo">
            <a:extLst xmlns:a="http://schemas.openxmlformats.org/drawingml/2006/main">
              <a:ext uri="{FF2B5EF4-FFF2-40B4-BE49-F238E27FC236}">
                <a16:creationId xmlns:a16="http://schemas.microsoft.com/office/drawing/2014/main" id="{6C93D07F-AE74-40C6-BBEC-30EF45BD7BDD}"/>
              </a:ext>
            </a:extLst>
          </p:cNvPr>
          <p:cNvSpPr>
            <a:spLocks xmlns:a="http://schemas.openxmlformats.org/drawingml/2006/main" noGrp="1"/>
          </p:cNvSpPr>
          <p:nvPr/>
        </p:nvSpPr>
        <p:spPr>
          <a:xfrm xmlns:a="http://schemas.openxmlformats.org/drawingml/2006/main">
            <a:off x="4686300" y="3209925"/>
            <a:ext cx="0" cy="981075"/>
          </a:xfrm>
          <a:prstGeom xmlns:a="http://schemas.openxmlformats.org/drawingml/2006/main" prst="line">
            <a:avLst/>
          </a:prstGeom>
          <a:ln xmlns:a="http://schemas.openxmlformats.org/drawingml/2006/main" w="19050">
            <a:solidFill>
              <a:srgbClr val="B5B1A8"/>
            </a:solidFill>
            <a:headEnd type="none"/>
            <a:tailEnd type="triangle"/>
          </a:ln>
        </p:spPr>
      </p:sp>
      <p:sp>
        <p:nvSpPr>
          <p:cNvPr id="34" name="Conexión del flujo">
            <a:extLst xmlns:a="http://schemas.openxmlformats.org/drawingml/2006/main">
              <a:ext uri="{FF2B5EF4-FFF2-40B4-BE49-F238E27FC236}">
                <a16:creationId xmlns:a16="http://schemas.microsoft.com/office/drawing/2014/main" id="{254BD3A4-04B9-4698-BD29-B591C9643B46}"/>
              </a:ext>
            </a:extLst>
          </p:cNvPr>
          <p:cNvSpPr>
            <a:spLocks xmlns:a="http://schemas.openxmlformats.org/drawingml/2006/main" noGrp="1"/>
          </p:cNvSpPr>
          <p:nvPr/>
        </p:nvSpPr>
        <p:spPr>
          <a:xfrm xmlns:a="http://schemas.openxmlformats.org/drawingml/2006/main">
            <a:off x="7496175" y="3209925"/>
            <a:ext cx="0" cy="981075"/>
          </a:xfrm>
          <a:prstGeom xmlns:a="http://schemas.openxmlformats.org/drawingml/2006/main" prst="line">
            <a:avLst/>
          </a:prstGeom>
          <a:ln xmlns:a="http://schemas.openxmlformats.org/drawingml/2006/main" w="19050">
            <a:solidFill>
              <a:srgbClr val="B39A6A"/>
            </a:solidFill>
            <a:headEnd type="none"/>
            <a:tailEnd type="triangle"/>
          </a:ln>
        </p:spPr>
      </p:sp>
      <p:sp>
        <p:nvSpPr>
          <p:cNvPr id="35" name="Conexión del flujo">
            <a:extLst xmlns:a="http://schemas.openxmlformats.org/drawingml/2006/main">
              <a:ext uri="{FF2B5EF4-FFF2-40B4-BE49-F238E27FC236}">
                <a16:creationId xmlns:a16="http://schemas.microsoft.com/office/drawing/2014/main" id="{90C3712C-9E89-4DC5-BF4A-8A37BFE738E3}"/>
              </a:ext>
            </a:extLst>
          </p:cNvPr>
          <p:cNvSpPr>
            <a:spLocks xmlns:a="http://schemas.openxmlformats.org/drawingml/2006/main" noGrp="1"/>
          </p:cNvSpPr>
          <p:nvPr/>
        </p:nvSpPr>
        <p:spPr>
          <a:xfrm xmlns:a="http://schemas.openxmlformats.org/drawingml/2006/main" flipV="1">
            <a:off x="10306050" y="3219450"/>
            <a:ext cx="0" cy="981075"/>
          </a:xfrm>
          <a:prstGeom xmlns:a="http://schemas.openxmlformats.org/drawingml/2006/main" prst="line">
            <a:avLst/>
          </a:prstGeom>
          <a:ln xmlns:a="http://schemas.openxmlformats.org/drawingml/2006/main" w="19050">
            <a:solidFill>
              <a:srgbClr val="53BA91"/>
            </a:solidFill>
            <a:headEnd type="none"/>
            <a:tailEnd type="triangle"/>
          </a:ln>
        </p:spPr>
      </p:sp>
      <p:sp>
        <p:nvSpPr>
          <p:cNvPr id="36" name="Una fuente de datos compartida por la interfaz, el agente y el evaluador">
            <a:extLst xmlns:a="http://schemas.openxmlformats.org/drawingml/2006/main">
              <a:ext uri="{FF2B5EF4-FFF2-40B4-BE49-F238E27FC236}">
                <a16:creationId xmlns:a16="http://schemas.microsoft.com/office/drawing/2014/main" id="{BD61B304-1580-4E68-B944-09058E3C13CB}"/>
              </a:ext>
            </a:extLst>
          </p:cNvPr>
          <p:cNvSpPr>
            <a:spLocks xmlns:a="http://schemas.openxmlformats.org/drawingml/2006/main" noGrp="1"/>
          </p:cNvSpPr>
          <p:nvPr/>
        </p:nvSpPr>
        <p:spPr>
          <a:xfrm xmlns:a="http://schemas.openxmlformats.org/drawingml/2006/main">
            <a:off x="704850" y="5876925"/>
            <a:ext cx="10668000" cy="466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Una fuente de datos compartida por la interfaz, el agente y el evaluador</a:t>
            </a:r>
          </a:p>
        </p:txBody>
      </p:sp>
      <p:sp>
        <p:nvSpPr>
          <p:cNvPr id="37" name="Número de diapositiva">
            <a:extLst xmlns:a="http://schemas.openxmlformats.org/drawingml/2006/main">
              <a:ext uri="{FF2B5EF4-FFF2-40B4-BE49-F238E27FC236}">
                <a16:creationId xmlns:a16="http://schemas.microsoft.com/office/drawing/2014/main" id="{1F37AA7A-17D2-44E7-B983-C3FBE6AD20FA}"/>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7</a:t>
            </a:r>
          </a:p>
        </p:txBody>
      </p:sp>
    </p:spTree>
    <p:extLst>
      <p:ext uri="{BB962C8B-B14F-4D97-AF65-F5344CB8AC3E}">
        <p14:creationId xmlns:p14="http://schemas.microsoft.com/office/powerpoint/2010/main" val="1884707595"/>
      </p:ext>
    </p:extLst>
  </p:cSld>
</p:sld>
</file>

<file path=ppt/slides/slide8.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Condición y calidad del evento">
            <a:extLst xmlns:a="http://schemas.openxmlformats.org/drawingml/2006/main">
              <a:ext uri="{FF2B5EF4-FFF2-40B4-BE49-F238E27FC236}">
                <a16:creationId xmlns:a16="http://schemas.microsoft.com/office/drawing/2014/main" id="{FBFFFF3F-6A84-48AC-826E-98CD73671FFA}"/>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Condición y calidad del evento</a:t>
            </a:r>
          </a:p>
        </p:txBody>
      </p:sp>
      <p:sp>
        <p:nvSpPr>
          <p:cNvPr id="3" name="El evento conserva por separado la condición y la calidad de los datos.">
            <a:extLst xmlns:a="http://schemas.openxmlformats.org/drawingml/2006/main">
              <a:ext uri="{FF2B5EF4-FFF2-40B4-BE49-F238E27FC236}">
                <a16:creationId xmlns:a16="http://schemas.microsoft.com/office/drawing/2014/main" id="{7F7D4CD8-D3AD-40CB-A1A4-35677DD847C7}"/>
              </a:ext>
            </a:extLst>
          </p:cNvPr>
          <p:cNvSpPr>
            <a:spLocks xmlns:a="http://schemas.openxmlformats.org/drawingml/2006/main" noGrp="1"/>
          </p:cNvSpPr>
          <p:nvPr/>
        </p:nvSpPr>
        <p:spPr>
          <a:xfrm xmlns:a="http://schemas.openxmlformats.org/drawingml/2006/main">
            <a:off x="704850" y="1543050"/>
            <a:ext cx="10572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El evento conserva por separado la condición y la calidad de los datos.</a:t>
            </a:r>
          </a:p>
        </p:txBody>
      </p:sp>
      <p:sp>
        <p:nvSpPr>
          <p:cNvPr id="4" name="Ejemplo ilustrativo">
            <a:extLst xmlns:a="http://schemas.openxmlformats.org/drawingml/2006/main">
              <a:ext uri="{FF2B5EF4-FFF2-40B4-BE49-F238E27FC236}">
                <a16:creationId xmlns:a16="http://schemas.microsoft.com/office/drawing/2014/main" id="{C36A9FDE-D343-4BB5-9166-48D9DCEC5FF0}"/>
              </a:ext>
            </a:extLst>
          </p:cNvPr>
          <p:cNvSpPr>
            <a:spLocks xmlns:a="http://schemas.openxmlformats.org/drawingml/2006/main" noGrp="1"/>
          </p:cNvSpPr>
          <p:nvPr/>
        </p:nvSpPr>
        <p:spPr>
          <a:xfrm xmlns:a="http://schemas.openxmlformats.org/drawingml/2006/main">
            <a:off x="704850" y="2447925"/>
            <a:ext cx="5715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B39A6A"/>
                </a:solidFill>
                <a:latin typeface="Arial"/>
                <a:ea typeface="Arial"/>
                <a:cs typeface="Arial"/>
              </a:defRPr>
            </a:pPr>
            <a:r>
              <a:rPr sz="1725" b="0">
                <a:solidFill>
                  <a:srgbClr val="B39A6A"/>
                </a:solidFill>
                <a:latin typeface="Arial"/>
                <a:ea typeface="Arial"/>
                <a:cs typeface="Arial"/>
              </a:rPr>
              <a:t>Ejemplo ilustrativo</a:t>
            </a:r>
          </a:p>
        </p:txBody>
      </p:sp>
      <p:graphicFrame>
        <p:nvGraphicFramePr>
          <p:cNvPr id="13" name="Evidencia editable"/>
          <p:cNvGraphicFramePr/>
          <p:nvPr/>
        </p:nvGraphicFramePr>
        <p:xfrm>
          <a:off xmlns:a="http://schemas.openxmlformats.org/drawingml/2006/main" x="704850" y="3086100"/>
          <a:ext xmlns:a="http://schemas.openxmlformats.org/drawingml/2006/main" cx="10782300" cy="2219325"/>
        </p:xfrm>
        <a:graphic xmlns:a="http://schemas.openxmlformats.org/drawingml/2006/main">
          <a:graphicData uri="http://schemas.openxmlformats.org/drawingml/2006/table">
            <a:tbl>
              <a:tblPr firstRow="1" bandRow="0"/>
              <a:tblGrid>
                <a:gridCol w="2647950"/>
                <a:gridCol w="2819400"/>
                <a:gridCol w="2733675"/>
                <a:gridCol w="2581275"/>
              </a:tblGrid>
              <a:tr h="581025">
                <a:tc>
                  <a:txBody>
                    <a:bodyPr lIns="152400" tIns="114300" rIns="95250" bIns="95250" anchor="ctr"/>
                    <a:lstStyle/>
                    <a:p>
                      <a:pPr>
                        <a:buNone/>
                      </a:pPr>
                      <a:r>
                        <a:rPr sz="1800" b="1">
                          <a:solidFill>
                            <a:srgbClr val="B39A6A"/>
                          </a:solidFill>
                          <a:latin typeface="Arial"/>
                          <a:ea typeface="Arial"/>
                          <a:cs typeface="Arial"/>
                        </a:rPr>
                        <a:t>Señal</a:t>
                      </a:r>
                    </a:p>
                  </a:txBody>
                  <a:tcPr marL="91440" marR="91440" marT="45720" marB="45720">
                    <a:lnL>
                      <a:noFill/>
                    </a:lnL>
                    <a:lnR>
                      <a:noFill/>
                    </a:lnR>
                    <a:lnT>
                      <a:noFill/>
                    </a:lnT>
                    <a:lnB w="9525">
                      <a:solidFill>
                        <a:srgbClr val="34312B"/>
                      </a:solidFill>
                    </a:lnB>
                    <a:solidFill>
                      <a:srgbClr val="25231E"/>
                    </a:solidFill>
                  </a:tcPr>
                </a:tc>
                <a:tc>
                  <a:txBody>
                    <a:bodyPr lIns="152400" tIns="114300" rIns="95250" bIns="95250" anchor="ctr"/>
                    <a:lstStyle/>
                    <a:p>
                      <a:pPr>
                        <a:buNone/>
                      </a:pPr>
                      <a:r>
                        <a:rPr sz="1800" b="1">
                          <a:solidFill>
                            <a:srgbClr val="B39A6A"/>
                          </a:solidFill>
                          <a:latin typeface="Arial"/>
                          <a:ea typeface="Arial"/>
                          <a:cs typeface="Arial"/>
                        </a:rPr>
                        <a:t>Valor observado</a:t>
                      </a:r>
                    </a:p>
                  </a:txBody>
                  <a:tcPr marL="91440" marR="91440" marT="45720" marB="45720">
                    <a:lnL>
                      <a:noFill/>
                    </a:lnL>
                    <a:lnR>
                      <a:noFill/>
                    </a:lnR>
                    <a:lnT>
                      <a:noFill/>
                    </a:lnT>
                    <a:lnB w="9525">
                      <a:solidFill>
                        <a:srgbClr val="34312B"/>
                      </a:solidFill>
                    </a:lnB>
                    <a:solidFill>
                      <a:srgbClr val="25231E"/>
                    </a:solidFill>
                  </a:tcPr>
                </a:tc>
                <a:tc>
                  <a:txBody>
                    <a:bodyPr lIns="152400" tIns="114300" rIns="95250" bIns="95250" anchor="ctr"/>
                    <a:lstStyle/>
                    <a:p>
                      <a:pPr>
                        <a:buNone/>
                      </a:pPr>
                      <a:r>
                        <a:rPr sz="1800" b="1">
                          <a:solidFill>
                            <a:srgbClr val="B39A6A"/>
                          </a:solidFill>
                          <a:latin typeface="Arial"/>
                          <a:ea typeface="Arial"/>
                          <a:cs typeface="Arial"/>
                        </a:rPr>
                        <a:t>Regla</a:t>
                      </a:r>
                    </a:p>
                  </a:txBody>
                  <a:tcPr marL="91440" marR="91440" marT="45720" marB="45720">
                    <a:lnL>
                      <a:noFill/>
                    </a:lnL>
                    <a:lnR>
                      <a:noFill/>
                    </a:lnR>
                    <a:lnT>
                      <a:noFill/>
                    </a:lnT>
                    <a:lnB w="9525">
                      <a:solidFill>
                        <a:srgbClr val="34312B"/>
                      </a:solidFill>
                    </a:lnB>
                    <a:solidFill>
                      <a:srgbClr val="25231E"/>
                    </a:solidFill>
                  </a:tcPr>
                </a:tc>
                <a:tc>
                  <a:txBody>
                    <a:bodyPr lIns="152400" tIns="114300" rIns="95250" bIns="95250" anchor="ctr"/>
                    <a:lstStyle/>
                    <a:p>
                      <a:pPr>
                        <a:buNone/>
                      </a:pPr>
                      <a:r>
                        <a:rPr sz="1800" b="1">
                          <a:solidFill>
                            <a:srgbClr val="B39A6A"/>
                          </a:solidFill>
                          <a:latin typeface="Arial"/>
                          <a:ea typeface="Arial"/>
                          <a:cs typeface="Arial"/>
                        </a:rPr>
                        <a:t>Resultado</a:t>
                      </a:r>
                    </a:p>
                  </a:txBody>
                  <a:tcPr marL="91440" marR="91440" marT="45720" marB="45720">
                    <a:lnL>
                      <a:noFill/>
                    </a:lnL>
                    <a:lnR>
                      <a:noFill/>
                    </a:lnR>
                    <a:lnT>
                      <a:noFill/>
                    </a:lnT>
                    <a:lnB w="9525">
                      <a:solidFill>
                        <a:srgbClr val="34312B"/>
                      </a:solidFill>
                    </a:lnB>
                    <a:solidFill>
                      <a:srgbClr val="25231E"/>
                    </a:solidFill>
                  </a:tcPr>
                </a:tc>
              </a:tr>
              <a:tr h="819150">
                <a:tc>
                  <a:txBody>
                    <a:bodyPr lIns="152400" tIns="114300" rIns="95250" bIns="95250" anchor="ctr"/>
                    <a:lstStyle/>
                    <a:p>
                      <a:pPr>
                        <a:buNone/>
                      </a:pPr>
                      <a:r>
                        <a:rPr sz="1950" b="0">
                          <a:solidFill>
                            <a:srgbClr val="E8E5DC"/>
                          </a:solidFill>
                          <a:latin typeface="Arial"/>
                          <a:ea typeface="Arial"/>
                          <a:cs typeface="Arial"/>
                        </a:rPr>
                        <a:t>Interés abierto</a:t>
                      </a:r>
                    </a:p>
                  </a:txBody>
                  <a:tcPr marL="91440" marR="91440" marT="45720" marB="45720">
                    <a:lnL>
                      <a:noFill/>
                    </a:lnL>
                    <a:lnR>
                      <a:noFill/>
                    </a:lnR>
                    <a:lnT>
                      <a:noFill/>
                    </a:lnT>
                    <a:lnB w="9525">
                      <a:solidFill>
                        <a:srgbClr val="34312B"/>
                      </a:solidFill>
                    </a:lnB>
                    <a:solidFill>
                      <a:srgbClr val="181713"/>
                    </a:solidFill>
                  </a:tcPr>
                </a:tc>
                <a:tc>
                  <a:txBody>
                    <a:bodyPr lIns="152400" tIns="114300" rIns="95250" bIns="95250" anchor="ctr"/>
                    <a:lstStyle/>
                    <a:p>
                      <a:pPr>
                        <a:buNone/>
                      </a:pPr>
                      <a:r>
                        <a:rPr sz="1950" b="0">
                          <a:solidFill>
                            <a:srgbClr val="E8E5DC"/>
                          </a:solidFill>
                          <a:latin typeface="Arial"/>
                          <a:ea typeface="Arial"/>
                          <a:cs typeface="Arial"/>
                        </a:rPr>
                        <a:t>+6 % en 15 min</a:t>
                      </a:r>
                    </a:p>
                  </a:txBody>
                  <a:tcPr marL="91440" marR="91440" marT="45720" marB="45720">
                    <a:lnL>
                      <a:noFill/>
                    </a:lnL>
                    <a:lnR>
                      <a:noFill/>
                    </a:lnR>
                    <a:lnT>
                      <a:noFill/>
                    </a:lnT>
                    <a:lnB w="9525">
                      <a:solidFill>
                        <a:srgbClr val="34312B"/>
                      </a:solidFill>
                    </a:lnB>
                    <a:solidFill>
                      <a:srgbClr val="181713"/>
                    </a:solidFill>
                  </a:tcPr>
                </a:tc>
                <a:tc>
                  <a:txBody>
                    <a:bodyPr lIns="152400" tIns="114300" rIns="95250" bIns="95250" anchor="ctr"/>
                    <a:lstStyle/>
                    <a:p>
                      <a:pPr>
                        <a:buNone/>
                      </a:pPr>
                      <a:r>
                        <a:rPr sz="1950" b="0">
                          <a:solidFill>
                            <a:srgbClr val="E8E5DC"/>
                          </a:solidFill>
                          <a:latin typeface="Arial"/>
                          <a:ea typeface="Arial"/>
                          <a:cs typeface="Arial"/>
                        </a:rPr>
                        <a:t>Al menos +5 %</a:t>
                      </a:r>
                    </a:p>
                  </a:txBody>
                  <a:tcPr marL="91440" marR="91440" marT="45720" marB="45720">
                    <a:lnL>
                      <a:noFill/>
                    </a:lnL>
                    <a:lnR>
                      <a:noFill/>
                    </a:lnR>
                    <a:lnT>
                      <a:noFill/>
                    </a:lnT>
                    <a:lnB w="9525">
                      <a:solidFill>
                        <a:srgbClr val="34312B"/>
                      </a:solidFill>
                    </a:lnB>
                    <a:solidFill>
                      <a:srgbClr val="181713"/>
                    </a:solidFill>
                  </a:tcPr>
                </a:tc>
                <a:tc>
                  <a:txBody>
                    <a:bodyPr lIns="152400" tIns="114300" rIns="95250" bIns="95250" anchor="ctr"/>
                    <a:lstStyle/>
                    <a:p>
                      <a:pPr>
                        <a:buNone/>
                      </a:pPr>
                      <a:r>
                        <a:rPr sz="1950" b="0">
                          <a:solidFill>
                            <a:srgbClr val="53BA91"/>
                          </a:solidFill>
                          <a:latin typeface="Arial"/>
                          <a:ea typeface="Arial"/>
                          <a:cs typeface="Arial"/>
                        </a:rPr>
                        <a:t>Cumple</a:t>
                      </a:r>
                    </a:p>
                  </a:txBody>
                  <a:tcPr marL="91440" marR="91440" marT="45720" marB="45720">
                    <a:lnL>
                      <a:noFill/>
                    </a:lnL>
                    <a:lnR>
                      <a:noFill/>
                    </a:lnR>
                    <a:lnT>
                      <a:noFill/>
                    </a:lnT>
                    <a:lnB w="9525">
                      <a:solidFill>
                        <a:srgbClr val="34312B"/>
                      </a:solidFill>
                    </a:lnB>
                    <a:solidFill>
                      <a:srgbClr val="181713"/>
                    </a:solidFill>
                  </a:tcPr>
                </a:tc>
              </a:tr>
              <a:tr h="819150">
                <a:tc>
                  <a:txBody>
                    <a:bodyPr lIns="152400" tIns="114300" rIns="95250" bIns="95250" anchor="ctr"/>
                    <a:lstStyle/>
                    <a:p>
                      <a:pPr>
                        <a:buNone/>
                      </a:pPr>
                      <a:r>
                        <a:rPr sz="1950" b="0">
                          <a:solidFill>
                            <a:srgbClr val="E8E5DC"/>
                          </a:solidFill>
                          <a:latin typeface="Arial"/>
                          <a:ea typeface="Arial"/>
                          <a:cs typeface="Arial"/>
                        </a:rPr>
                        <a:t>Spread</a:t>
                      </a:r>
                    </a:p>
                  </a:txBody>
                  <a:tcPr marL="91440" marR="91440" marT="45720" marB="45720">
                    <a:lnL>
                      <a:noFill/>
                    </a:lnL>
                    <a:lnR>
                      <a:noFill/>
                    </a:lnR>
                    <a:lnT>
                      <a:noFill/>
                    </a:lnT>
                    <a:lnB w="9525">
                      <a:solidFill>
                        <a:srgbClr val="34312B"/>
                      </a:solidFill>
                    </a:lnB>
                    <a:solidFill>
                      <a:srgbClr val="181713"/>
                    </a:solidFill>
                  </a:tcPr>
                </a:tc>
                <a:tc>
                  <a:txBody>
                    <a:bodyPr lIns="152400" tIns="114300" rIns="95250" bIns="95250" anchor="ctr"/>
                    <a:lstStyle/>
                    <a:p>
                      <a:pPr>
                        <a:buNone/>
                      </a:pPr>
                      <a:r>
                        <a:rPr sz="1950" b="0">
                          <a:solidFill>
                            <a:srgbClr val="E8E5DC"/>
                          </a:solidFill>
                          <a:latin typeface="Arial"/>
                          <a:ea typeface="Arial"/>
                          <a:cs typeface="Arial"/>
                        </a:rPr>
                        <a:t>12 puntos básicos</a:t>
                      </a:r>
                    </a:p>
                  </a:txBody>
                  <a:tcPr marL="91440" marR="91440" marT="45720" marB="45720">
                    <a:lnL>
                      <a:noFill/>
                    </a:lnL>
                    <a:lnR>
                      <a:noFill/>
                    </a:lnR>
                    <a:lnT>
                      <a:noFill/>
                    </a:lnT>
                    <a:lnB w="9525">
                      <a:solidFill>
                        <a:srgbClr val="34312B"/>
                      </a:solidFill>
                    </a:lnB>
                    <a:solidFill>
                      <a:srgbClr val="181713"/>
                    </a:solidFill>
                  </a:tcPr>
                </a:tc>
                <a:tc>
                  <a:txBody>
                    <a:bodyPr lIns="152400" tIns="114300" rIns="95250" bIns="95250" anchor="ctr"/>
                    <a:lstStyle/>
                    <a:p>
                      <a:pPr>
                        <a:buNone/>
                      </a:pPr>
                      <a:r>
                        <a:rPr sz="1950" b="0">
                          <a:solidFill>
                            <a:srgbClr val="E8E5DC"/>
                          </a:solidFill>
                          <a:latin typeface="Arial"/>
                          <a:ea typeface="Arial"/>
                          <a:cs typeface="Arial"/>
                        </a:rPr>
                        <a:t>Máximo 10 pb</a:t>
                      </a:r>
                    </a:p>
                  </a:txBody>
                  <a:tcPr marL="91440" marR="91440" marT="45720" marB="45720">
                    <a:lnL>
                      <a:noFill/>
                    </a:lnL>
                    <a:lnR>
                      <a:noFill/>
                    </a:lnR>
                    <a:lnT>
                      <a:noFill/>
                    </a:lnT>
                    <a:lnB w="9525">
                      <a:solidFill>
                        <a:srgbClr val="34312B"/>
                      </a:solidFill>
                    </a:lnB>
                    <a:solidFill>
                      <a:srgbClr val="181713"/>
                    </a:solidFill>
                  </a:tcPr>
                </a:tc>
                <a:tc>
                  <a:txBody>
                    <a:bodyPr lIns="152400" tIns="114300" rIns="95250" bIns="95250" anchor="ctr"/>
                    <a:lstStyle/>
                    <a:p>
                      <a:pPr>
                        <a:buNone/>
                      </a:pPr>
                      <a:r>
                        <a:rPr sz="1950" b="0">
                          <a:solidFill>
                            <a:srgbClr val="EF718A"/>
                          </a:solidFill>
                          <a:latin typeface="Arial"/>
                          <a:ea typeface="Arial"/>
                          <a:cs typeface="Arial"/>
                        </a:rPr>
                        <a:t>Bloquea</a:t>
                      </a:r>
                    </a:p>
                  </a:txBody>
                  <a:tcPr marL="91440" marR="91440" marT="45720" marB="45720">
                    <a:lnL>
                      <a:noFill/>
                    </a:lnL>
                    <a:lnR>
                      <a:noFill/>
                    </a:lnR>
                    <a:lnT>
                      <a:noFill/>
                    </a:lnT>
                    <a:lnB w="9525">
                      <a:solidFill>
                        <a:srgbClr val="34312B"/>
                      </a:solidFill>
                    </a:lnB>
                    <a:solidFill>
                      <a:srgbClr val="181713"/>
                    </a:solidFill>
                  </a:tcPr>
                </a:tc>
              </a:tr>
            </a:tbl>
          </a:graphicData>
        </a:graphic>
      </p:graphicFrame>
      <p:sp>
        <p:nvSpPr>
          <p:cNvPr id="6" name="Condición: verdadera">
            <a:extLst xmlns:a="http://schemas.openxmlformats.org/drawingml/2006/main">
              <a:ext uri="{FF2B5EF4-FFF2-40B4-BE49-F238E27FC236}">
                <a16:creationId xmlns:a16="http://schemas.microsoft.com/office/drawing/2014/main" id="{957D7BB5-96D6-464C-BB0C-ECB437E91733}"/>
              </a:ext>
            </a:extLst>
          </p:cNvPr>
          <p:cNvSpPr>
            <a:spLocks xmlns:a="http://schemas.openxmlformats.org/drawingml/2006/main" noGrp="1"/>
          </p:cNvSpPr>
          <p:nvPr/>
        </p:nvSpPr>
        <p:spPr>
          <a:xfrm xmlns:a="http://schemas.openxmlformats.org/drawingml/2006/main">
            <a:off x="704850" y="5753100"/>
            <a:ext cx="504825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75" b="1">
                <a:solidFill>
                  <a:srgbClr val="53BA91"/>
                </a:solidFill>
                <a:latin typeface="Arial"/>
                <a:ea typeface="Arial"/>
                <a:cs typeface="Arial"/>
              </a:defRPr>
            </a:pPr>
            <a:r>
              <a:rPr sz="2475" b="1">
                <a:solidFill>
                  <a:srgbClr val="53BA91"/>
                </a:solidFill>
                <a:latin typeface="Arial"/>
                <a:ea typeface="Arial"/>
                <a:cs typeface="Arial"/>
              </a:rPr>
              <a:t>Condición: verdadera</a:t>
            </a:r>
          </a:p>
        </p:txBody>
      </p:sp>
      <p:sp>
        <p:nvSpPr>
          <p:cNvPr id="7" name="Calidad: bloqueada">
            <a:extLst xmlns:a="http://schemas.openxmlformats.org/drawingml/2006/main">
              <a:ext uri="{FF2B5EF4-FFF2-40B4-BE49-F238E27FC236}">
                <a16:creationId xmlns:a16="http://schemas.microsoft.com/office/drawing/2014/main" id="{0E4B0E6B-5E18-41B5-9E9C-38D9F7930259}"/>
              </a:ext>
            </a:extLst>
          </p:cNvPr>
          <p:cNvSpPr>
            <a:spLocks xmlns:a="http://schemas.openxmlformats.org/drawingml/2006/main" noGrp="1"/>
          </p:cNvSpPr>
          <p:nvPr/>
        </p:nvSpPr>
        <p:spPr>
          <a:xfrm xmlns:a="http://schemas.openxmlformats.org/drawingml/2006/main">
            <a:off x="6619875" y="5753100"/>
            <a:ext cx="485775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75" b="1">
                <a:solidFill>
                  <a:srgbClr val="EF718A"/>
                </a:solidFill>
                <a:latin typeface="Arial"/>
                <a:ea typeface="Arial"/>
                <a:cs typeface="Arial"/>
              </a:defRPr>
            </a:pPr>
            <a:r>
              <a:rPr sz="2475" b="1">
                <a:solidFill>
                  <a:srgbClr val="EF718A"/>
                </a:solidFill>
                <a:latin typeface="Arial"/>
                <a:ea typeface="Arial"/>
                <a:cs typeface="Arial"/>
              </a:rPr>
              <a:t>Calidad: bloqueada</a:t>
            </a:r>
          </a:p>
        </p:txBody>
      </p:sp>
      <p:sp>
        <p:nvSpPr>
          <p:cNvPr id="8" name="Número de diapositiva">
            <a:extLst xmlns:a="http://schemas.openxmlformats.org/drawingml/2006/main">
              <a:ext uri="{FF2B5EF4-FFF2-40B4-BE49-F238E27FC236}">
                <a16:creationId xmlns:a16="http://schemas.microsoft.com/office/drawing/2014/main" id="{998506D6-0CC4-42ED-AC59-D444DC22AAA1}"/>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8</a:t>
            </a:r>
          </a:p>
        </p:txBody>
      </p:sp>
    </p:spTree>
    <p:extLst>
      <p:ext uri="{BB962C8B-B14F-4D97-AF65-F5344CB8AC3E}">
        <p14:creationId xmlns:p14="http://schemas.microsoft.com/office/powerpoint/2010/main" val="2073770813"/>
      </p:ext>
    </p:extLst>
  </p:cSld>
</p:sld>
</file>

<file path=ppt/slides/slide9.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Costes acotados por el uso">
            <a:extLst xmlns:a="http://schemas.openxmlformats.org/drawingml/2006/main">
              <a:ext uri="{FF2B5EF4-FFF2-40B4-BE49-F238E27FC236}">
                <a16:creationId xmlns:a16="http://schemas.microsoft.com/office/drawing/2014/main" id="{1ED9C852-6CBC-4EC8-A7B4-1E473FED6DA9}"/>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Costes acotados por el uso</a:t>
            </a:r>
          </a:p>
        </p:txBody>
      </p:sp>
      <p:sp>
        <p:nvSpPr>
          <p:cNvPr id="3" name="Coste mensual">
            <a:extLst xmlns:a="http://schemas.openxmlformats.org/drawingml/2006/main">
              <a:ext uri="{FF2B5EF4-FFF2-40B4-BE49-F238E27FC236}">
                <a16:creationId xmlns:a16="http://schemas.microsoft.com/office/drawing/2014/main" id="{2E6B978F-6083-495F-8370-57A872549509}"/>
              </a:ext>
            </a:extLst>
          </p:cNvPr>
          <p:cNvSpPr>
            <a:spLocks xmlns:a="http://schemas.openxmlformats.org/drawingml/2006/main" noGrp="1"/>
          </p:cNvSpPr>
          <p:nvPr/>
        </p:nvSpPr>
        <p:spPr>
          <a:xfrm xmlns:a="http://schemas.openxmlformats.org/drawingml/2006/main">
            <a:off x="704850" y="2352675"/>
            <a:ext cx="509587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550" b="1">
                <a:solidFill>
                  <a:srgbClr val="B39A6A"/>
                </a:solidFill>
                <a:latin typeface="Arial"/>
                <a:ea typeface="Arial"/>
                <a:cs typeface="Arial"/>
              </a:defRPr>
            </a:pPr>
            <a:r>
              <a:rPr sz="2550" b="1">
                <a:solidFill>
                  <a:srgbClr val="B39A6A"/>
                </a:solidFill>
                <a:latin typeface="Arial"/>
                <a:ea typeface="Arial"/>
                <a:cs typeface="Arial"/>
              </a:rPr>
              <a:t>Coste mensual</a:t>
            </a:r>
          </a:p>
        </p:txBody>
      </p:sp>
      <p:sp>
        <p:nvSpPr>
          <p:cNvPr id="4" name="Alojamiento + minutos de voz + tokens del agente">
            <a:extLst xmlns:a="http://schemas.openxmlformats.org/drawingml/2006/main">
              <a:ext uri="{FF2B5EF4-FFF2-40B4-BE49-F238E27FC236}">
                <a16:creationId xmlns:a16="http://schemas.microsoft.com/office/drawing/2014/main" id="{782C6F88-E56E-4880-8E8B-95CFFE8975AF}"/>
              </a:ext>
            </a:extLst>
          </p:cNvPr>
          <p:cNvSpPr>
            <a:spLocks xmlns:a="http://schemas.openxmlformats.org/drawingml/2006/main" noGrp="1"/>
          </p:cNvSpPr>
          <p:nvPr/>
        </p:nvSpPr>
        <p:spPr>
          <a:xfrm xmlns:a="http://schemas.openxmlformats.org/drawingml/2006/main">
            <a:off x="704850" y="3095625"/>
            <a:ext cx="5095875" cy="1857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925" b="0">
                <a:solidFill>
                  <a:srgbClr val="E8E5DC"/>
                </a:solidFill>
                <a:latin typeface="Arial"/>
                <a:ea typeface="Arial"/>
                <a:cs typeface="Arial"/>
              </a:defRPr>
            </a:pPr>
            <a:r>
              <a:rPr sz="2925" b="0">
                <a:solidFill>
                  <a:srgbClr val="E8E5DC"/>
                </a:solidFill>
                <a:latin typeface="Arial"/>
                <a:ea typeface="Arial"/>
                <a:cs typeface="Arial"/>
              </a:rPr>
              <a:t>Alojamiento
+ minutos de voz
+ tokens del agente</a:t>
            </a:r>
          </a:p>
        </p:txBody>
      </p:sp>
      <p:sp>
        <p:nvSpPr>
          <p:cNvPr id="5" name="El piloto medirá coste por usuario y por regla creada">
            <a:extLst xmlns:a="http://schemas.openxmlformats.org/drawingml/2006/main">
              <a:ext uri="{FF2B5EF4-FFF2-40B4-BE49-F238E27FC236}">
                <a16:creationId xmlns:a16="http://schemas.microsoft.com/office/drawing/2014/main" id="{4E756A1A-5069-4F9B-816D-825D015B385C}"/>
              </a:ext>
            </a:extLst>
          </p:cNvPr>
          <p:cNvSpPr>
            <a:spLocks xmlns:a="http://schemas.openxmlformats.org/drawingml/2006/main" noGrp="1"/>
          </p:cNvSpPr>
          <p:nvPr/>
        </p:nvSpPr>
        <p:spPr>
          <a:xfrm xmlns:a="http://schemas.openxmlformats.org/drawingml/2006/main">
            <a:off x="704850" y="5334000"/>
            <a:ext cx="5334000" cy="885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El piloto medirá coste por usuario
y por regla creada</a:t>
            </a:r>
          </a:p>
        </p:txBody>
      </p:sp>
      <p:sp>
        <p:nvSpPr>
          <p:cNvPr id="6" name="Decisiones de diseño">
            <a:extLst xmlns:a="http://schemas.openxmlformats.org/drawingml/2006/main">
              <a:ext uri="{FF2B5EF4-FFF2-40B4-BE49-F238E27FC236}">
                <a16:creationId xmlns:a16="http://schemas.microsoft.com/office/drawing/2014/main" id="{AA074549-87F3-4DD8-AC7D-39FFA199D1CB}"/>
              </a:ext>
            </a:extLst>
          </p:cNvPr>
          <p:cNvSpPr>
            <a:spLocks xmlns:a="http://schemas.openxmlformats.org/drawingml/2006/main" noGrp="1"/>
          </p:cNvSpPr>
          <p:nvPr/>
        </p:nvSpPr>
        <p:spPr>
          <a:xfrm xmlns:a="http://schemas.openxmlformats.org/drawingml/2006/main">
            <a:off x="6905625" y="2352675"/>
            <a:ext cx="45720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550" b="1">
                <a:solidFill>
                  <a:srgbClr val="53BA91"/>
                </a:solidFill>
                <a:latin typeface="Arial"/>
                <a:ea typeface="Arial"/>
                <a:cs typeface="Arial"/>
              </a:defRPr>
            </a:pPr>
            <a:r>
              <a:rPr sz="2550" b="1">
                <a:solidFill>
                  <a:srgbClr val="53BA91"/>
                </a:solidFill>
                <a:latin typeface="Arial"/>
                <a:ea typeface="Arial"/>
                <a:cs typeface="Arial"/>
              </a:rPr>
              <a:t>Decisiones de diseño</a:t>
            </a:r>
          </a:p>
        </p:txBody>
      </p:sp>
      <p:sp>
        <p:nvSpPr>
          <p:cNvPr id="7" name="Feeds compartidos por mercado IA a demanda Límites de llamadas y tokens">
            <a:extLst xmlns:a="http://schemas.openxmlformats.org/drawingml/2006/main">
              <a:ext uri="{FF2B5EF4-FFF2-40B4-BE49-F238E27FC236}">
                <a16:creationId xmlns:a16="http://schemas.microsoft.com/office/drawing/2014/main" id="{DA63B9F8-BC38-4923-9BB2-6FFE1C7167E6}"/>
              </a:ext>
            </a:extLst>
          </p:cNvPr>
          <p:cNvSpPr>
            <a:spLocks xmlns:a="http://schemas.openxmlformats.org/drawingml/2006/main" noGrp="1"/>
          </p:cNvSpPr>
          <p:nvPr/>
        </p:nvSpPr>
        <p:spPr>
          <a:xfrm xmlns:a="http://schemas.openxmlformats.org/drawingml/2006/main">
            <a:off x="6905625" y="3143250"/>
            <a:ext cx="4619625" cy="139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Feeds compartidos por mercado
IA a demanda
Límites de llamadas y tokens</a:t>
            </a:r>
          </a:p>
        </p:txBody>
      </p:sp>
      <p:sp>
        <p:nvSpPr>
          <p:cNvPr id="8" name="p95 de evaluación &lt; 100 ms">
            <a:extLst xmlns:a="http://schemas.openxmlformats.org/drawingml/2006/main">
              <a:ext uri="{FF2B5EF4-FFF2-40B4-BE49-F238E27FC236}">
                <a16:creationId xmlns:a16="http://schemas.microsoft.com/office/drawing/2014/main" id="{CDEAB275-B60B-4EBD-A02B-416CB2CFBB5A}"/>
              </a:ext>
            </a:extLst>
          </p:cNvPr>
          <p:cNvSpPr>
            <a:spLocks xmlns:a="http://schemas.openxmlformats.org/drawingml/2006/main" noGrp="1"/>
          </p:cNvSpPr>
          <p:nvPr/>
        </p:nvSpPr>
        <p:spPr>
          <a:xfrm xmlns:a="http://schemas.openxmlformats.org/drawingml/2006/main">
            <a:off x="6905625" y="4905375"/>
            <a:ext cx="4619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625" b="1">
                <a:solidFill>
                  <a:srgbClr val="E8E5DC"/>
                </a:solidFill>
                <a:latin typeface="Arial"/>
                <a:ea typeface="Arial"/>
                <a:cs typeface="Arial"/>
              </a:defRPr>
            </a:pPr>
            <a:r>
              <a:rPr sz="2625" b="1">
                <a:solidFill>
                  <a:srgbClr val="E8E5DC"/>
                </a:solidFill>
                <a:latin typeface="Arial"/>
                <a:ea typeface="Arial"/>
                <a:cs typeface="Arial"/>
              </a:rPr>
              <a:t>p95 de evaluación &lt; 100 ms</a:t>
            </a:r>
          </a:p>
        </p:txBody>
      </p:sp>
      <p:sp>
        <p:nvSpPr>
          <p:cNvPr id="9" name="Objetivo de ingeniería, sin benchmark publicado">
            <a:extLst xmlns:a="http://schemas.openxmlformats.org/drawingml/2006/main">
              <a:ext uri="{FF2B5EF4-FFF2-40B4-BE49-F238E27FC236}">
                <a16:creationId xmlns:a16="http://schemas.microsoft.com/office/drawing/2014/main" id="{9C6A3669-A813-408E-824B-0D59B4E5F360}"/>
              </a:ext>
            </a:extLst>
          </p:cNvPr>
          <p:cNvSpPr>
            <a:spLocks xmlns:a="http://schemas.openxmlformats.org/drawingml/2006/main" noGrp="1"/>
          </p:cNvSpPr>
          <p:nvPr/>
        </p:nvSpPr>
        <p:spPr>
          <a:xfrm xmlns:a="http://schemas.openxmlformats.org/drawingml/2006/main">
            <a:off x="6905625" y="5572125"/>
            <a:ext cx="4619625"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575" b="0">
                <a:solidFill>
                  <a:srgbClr val="B5B1A8"/>
                </a:solidFill>
                <a:latin typeface="Arial"/>
                <a:ea typeface="Arial"/>
                <a:cs typeface="Arial"/>
              </a:defRPr>
            </a:pPr>
            <a:r>
              <a:rPr sz="1575" b="0">
                <a:solidFill>
                  <a:srgbClr val="B5B1A8"/>
                </a:solidFill>
                <a:latin typeface="Arial"/>
                <a:ea typeface="Arial"/>
                <a:cs typeface="Arial"/>
              </a:rPr>
              <a:t>Objetivo de ingeniería, sin benchmark publicado</a:t>
            </a:r>
          </a:p>
        </p:txBody>
      </p:sp>
      <p:sp>
        <p:nvSpPr>
          <p:cNvPr id="10" name="Número de diapositiva">
            <a:extLst xmlns:a="http://schemas.openxmlformats.org/drawingml/2006/main">
              <a:ext uri="{FF2B5EF4-FFF2-40B4-BE49-F238E27FC236}">
                <a16:creationId xmlns:a16="http://schemas.microsoft.com/office/drawing/2014/main" id="{D351AEC8-7152-4988-930E-65B557E18FF9}"/>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9</a:t>
            </a:r>
          </a:p>
        </p:txBody>
      </p:sp>
    </p:spTree>
    <p:extLst>
      <p:ext uri="{BB962C8B-B14F-4D97-AF65-F5344CB8AC3E}">
        <p14:creationId xmlns:p14="http://schemas.microsoft.com/office/powerpoint/2010/main" val="1673965422"/>
      </p:ext>
    </p:extLst>
  </p:cSld>
</p:sld>
</file>

<file path=ppt/slides/slide10.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Un piloto para validar utilidad y pago">
            <a:extLst xmlns:a="http://schemas.openxmlformats.org/drawingml/2006/main">
              <a:ext uri="{FF2B5EF4-FFF2-40B4-BE49-F238E27FC236}">
                <a16:creationId xmlns:a16="http://schemas.microsoft.com/office/drawing/2014/main" id="{60457294-6F18-4080-BE52-AF0BF4287BD0}"/>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Un piloto para validar utilidad y pago</a:t>
            </a:r>
          </a:p>
        </p:txBody>
      </p:sp>
      <p:sp>
        <p:nvSpPr>
          <p:cNvPr id="3" name="Hipótesis comercial">
            <a:extLst xmlns:a="http://schemas.openxmlformats.org/drawingml/2006/main">
              <a:ext uri="{FF2B5EF4-FFF2-40B4-BE49-F238E27FC236}">
                <a16:creationId xmlns:a16="http://schemas.microsoft.com/office/drawing/2014/main" id="{BCE86B98-BE95-4771-BFD6-DFEB59F1785C}"/>
              </a:ext>
            </a:extLst>
          </p:cNvPr>
          <p:cNvSpPr>
            <a:spLocks xmlns:a="http://schemas.openxmlformats.org/drawingml/2006/main" noGrp="1"/>
          </p:cNvSpPr>
          <p:nvPr/>
        </p:nvSpPr>
        <p:spPr>
          <a:xfrm xmlns:a="http://schemas.openxmlformats.org/drawingml/2006/main">
            <a:off x="704850" y="1543050"/>
            <a:ext cx="10572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Hipótesis comercial</a:t>
            </a:r>
          </a:p>
        </p:txBody>
      </p:sp>
      <p:sp>
        <p:nvSpPr>
          <p:cNvPr id="4" name="Cliente inicial">
            <a:extLst xmlns:a="http://schemas.openxmlformats.org/drawingml/2006/main">
              <a:ext uri="{FF2B5EF4-FFF2-40B4-BE49-F238E27FC236}">
                <a16:creationId xmlns:a16="http://schemas.microsoft.com/office/drawing/2014/main" id="{014C18D7-1435-4411-8613-FABBD9B854C7}"/>
              </a:ext>
            </a:extLst>
          </p:cNvPr>
          <p:cNvSpPr>
            <a:spLocks xmlns:a="http://schemas.openxmlformats.org/drawingml/2006/main" noGrp="1"/>
          </p:cNvSpPr>
          <p:nvPr/>
        </p:nvSpPr>
        <p:spPr>
          <a:xfrm xmlns:a="http://schemas.openxmlformats.org/drawingml/2006/main">
            <a:off x="704850" y="2876550"/>
            <a:ext cx="3390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00" b="1">
                <a:solidFill>
                  <a:srgbClr val="B39A6A"/>
                </a:solidFill>
                <a:latin typeface="Arial"/>
                <a:ea typeface="Arial"/>
                <a:cs typeface="Arial"/>
              </a:defRPr>
            </a:pPr>
            <a:r>
              <a:rPr sz="2400" b="1">
                <a:solidFill>
                  <a:srgbClr val="B39A6A"/>
                </a:solidFill>
                <a:latin typeface="Arial"/>
                <a:ea typeface="Arial"/>
                <a:cs typeface="Arial"/>
              </a:rPr>
              <a:t>Cliente inicial</a:t>
            </a:r>
          </a:p>
        </p:txBody>
      </p:sp>
      <p:sp>
        <p:nvSpPr>
          <p:cNvPr id="5" name="Traders que siguen condiciones compuestas.">
            <a:extLst xmlns:a="http://schemas.openxmlformats.org/drawingml/2006/main">
              <a:ext uri="{FF2B5EF4-FFF2-40B4-BE49-F238E27FC236}">
                <a16:creationId xmlns:a16="http://schemas.microsoft.com/office/drawing/2014/main" id="{5CADAB64-605A-4CAD-A2B2-803AE8800A24}"/>
              </a:ext>
            </a:extLst>
          </p:cNvPr>
          <p:cNvSpPr>
            <a:spLocks xmlns:a="http://schemas.openxmlformats.org/drawingml/2006/main" noGrp="1"/>
          </p:cNvSpPr>
          <p:nvPr/>
        </p:nvSpPr>
        <p:spPr>
          <a:xfrm xmlns:a="http://schemas.openxmlformats.org/drawingml/2006/main">
            <a:off x="704850" y="3743325"/>
            <a:ext cx="3390900" cy="138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Traders que siguen
condiciones compuestas.</a:t>
            </a:r>
          </a:p>
        </p:txBody>
      </p:sp>
      <p:sp>
        <p:nvSpPr>
          <p:cNvPr id="6" name="Suscripción">
            <a:extLst xmlns:a="http://schemas.openxmlformats.org/drawingml/2006/main">
              <a:ext uri="{FF2B5EF4-FFF2-40B4-BE49-F238E27FC236}">
                <a16:creationId xmlns:a16="http://schemas.microsoft.com/office/drawing/2014/main" id="{F0960D8F-C1EF-446A-8455-1ED7CB81D5F1}"/>
              </a:ext>
            </a:extLst>
          </p:cNvPr>
          <p:cNvSpPr>
            <a:spLocks xmlns:a="http://schemas.openxmlformats.org/drawingml/2006/main" noGrp="1"/>
          </p:cNvSpPr>
          <p:nvPr/>
        </p:nvSpPr>
        <p:spPr>
          <a:xfrm xmlns:a="http://schemas.openxmlformats.org/drawingml/2006/main">
            <a:off x="4419600" y="2876550"/>
            <a:ext cx="3390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00" b="1">
                <a:solidFill>
                  <a:srgbClr val="B39A6A"/>
                </a:solidFill>
                <a:latin typeface="Arial"/>
                <a:ea typeface="Arial"/>
                <a:cs typeface="Arial"/>
              </a:defRPr>
            </a:pPr>
            <a:r>
              <a:rPr sz="2400" b="1">
                <a:solidFill>
                  <a:srgbClr val="B39A6A"/>
                </a:solidFill>
                <a:latin typeface="Arial"/>
                <a:ea typeface="Arial"/>
                <a:cs typeface="Arial"/>
              </a:rPr>
              <a:t>Suscripción</a:t>
            </a:r>
          </a:p>
        </p:txBody>
      </p:sp>
      <p:sp>
        <p:nvSpPr>
          <p:cNvPr id="7" name="Reglas persistentes, historial y cuota de IA.">
            <a:extLst xmlns:a="http://schemas.openxmlformats.org/drawingml/2006/main">
              <a:ext uri="{FF2B5EF4-FFF2-40B4-BE49-F238E27FC236}">
                <a16:creationId xmlns:a16="http://schemas.microsoft.com/office/drawing/2014/main" id="{E7812F8E-FBD4-4FB3-B9DA-D67D3C81F353}"/>
              </a:ext>
            </a:extLst>
          </p:cNvPr>
          <p:cNvSpPr>
            <a:spLocks xmlns:a="http://schemas.openxmlformats.org/drawingml/2006/main" noGrp="1"/>
          </p:cNvSpPr>
          <p:nvPr/>
        </p:nvSpPr>
        <p:spPr>
          <a:xfrm xmlns:a="http://schemas.openxmlformats.org/drawingml/2006/main">
            <a:off x="4419600" y="3743325"/>
            <a:ext cx="3390900" cy="138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Reglas persistentes,
historial y cuota de IA.</a:t>
            </a:r>
          </a:p>
        </p:txBody>
      </p:sp>
      <p:sp>
        <p:nvSpPr>
          <p:cNvPr id="8" name="Piloto controlado">
            <a:extLst xmlns:a="http://schemas.openxmlformats.org/drawingml/2006/main">
              <a:ext uri="{FF2B5EF4-FFF2-40B4-BE49-F238E27FC236}">
                <a16:creationId xmlns:a16="http://schemas.microsoft.com/office/drawing/2014/main" id="{EF1FB08B-7840-46AD-AE07-D455A0C021B2}"/>
              </a:ext>
            </a:extLst>
          </p:cNvPr>
          <p:cNvSpPr>
            <a:spLocks xmlns:a="http://schemas.openxmlformats.org/drawingml/2006/main" noGrp="1"/>
          </p:cNvSpPr>
          <p:nvPr/>
        </p:nvSpPr>
        <p:spPr>
          <a:xfrm xmlns:a="http://schemas.openxmlformats.org/drawingml/2006/main">
            <a:off x="8134350" y="2876550"/>
            <a:ext cx="33909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00" b="1">
                <a:solidFill>
                  <a:srgbClr val="B39A6A"/>
                </a:solidFill>
                <a:latin typeface="Arial"/>
                <a:ea typeface="Arial"/>
                <a:cs typeface="Arial"/>
              </a:defRPr>
            </a:pPr>
            <a:r>
              <a:rPr sz="2400" b="1">
                <a:solidFill>
                  <a:srgbClr val="B39A6A"/>
                </a:solidFill>
                <a:latin typeface="Arial"/>
                <a:ea typeface="Arial"/>
                <a:cs typeface="Arial"/>
              </a:rPr>
              <a:t>Piloto controlado</a:t>
            </a:r>
          </a:p>
        </p:txBody>
      </p:sp>
      <p:sp>
        <p:nvSpPr>
          <p:cNvPr id="9" name="10 usuarios objetivo. Pruebas e entrevistas.">
            <a:extLst xmlns:a="http://schemas.openxmlformats.org/drawingml/2006/main">
              <a:ext uri="{FF2B5EF4-FFF2-40B4-BE49-F238E27FC236}">
                <a16:creationId xmlns:a16="http://schemas.microsoft.com/office/drawing/2014/main" id="{B609F2A3-0E5A-46FB-9807-809D06C2B30D}"/>
              </a:ext>
            </a:extLst>
          </p:cNvPr>
          <p:cNvSpPr>
            <a:spLocks xmlns:a="http://schemas.openxmlformats.org/drawingml/2006/main" noGrp="1"/>
          </p:cNvSpPr>
          <p:nvPr/>
        </p:nvSpPr>
        <p:spPr>
          <a:xfrm xmlns:a="http://schemas.openxmlformats.org/drawingml/2006/main">
            <a:off x="8134350" y="3743325"/>
            <a:ext cx="3390900" cy="138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10 usuarios objetivo.
Pruebas e entrevistas.</a:t>
            </a:r>
          </a:p>
        </p:txBody>
      </p:sp>
      <p:sp>
        <p:nvSpPr>
          <p:cNvPr id="10" name="Mediremos creación de reglas, retorno a siete días e intención de pago">
            <a:extLst xmlns:a="http://schemas.openxmlformats.org/drawingml/2006/main">
              <a:ext uri="{FF2B5EF4-FFF2-40B4-BE49-F238E27FC236}">
                <a16:creationId xmlns:a16="http://schemas.microsoft.com/office/drawing/2014/main" id="{A0194B62-1425-4CB6-B12A-B27DBDB46937}"/>
              </a:ext>
            </a:extLst>
          </p:cNvPr>
          <p:cNvSpPr>
            <a:spLocks xmlns:a="http://schemas.openxmlformats.org/drawingml/2006/main" noGrp="1"/>
          </p:cNvSpPr>
          <p:nvPr/>
        </p:nvSpPr>
        <p:spPr>
          <a:xfrm xmlns:a="http://schemas.openxmlformats.org/drawingml/2006/main">
            <a:off x="704850" y="5686425"/>
            <a:ext cx="107823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0">
                <a:solidFill>
                  <a:srgbClr val="B5B1A8"/>
                </a:solidFill>
                <a:latin typeface="Arial"/>
                <a:ea typeface="Arial"/>
                <a:cs typeface="Arial"/>
              </a:defRPr>
            </a:pPr>
            <a:r>
              <a:rPr sz="2025" b="0">
                <a:solidFill>
                  <a:srgbClr val="B5B1A8"/>
                </a:solidFill>
                <a:latin typeface="Arial"/>
                <a:ea typeface="Arial"/>
                <a:cs typeface="Arial"/>
              </a:rPr>
              <a:t>Mediremos creación de reglas, retorno a siete días e intención de pago</a:t>
            </a:r>
          </a:p>
        </p:txBody>
      </p:sp>
      <p:sp>
        <p:nvSpPr>
          <p:cNvPr id="11" name="Número de diapositiva">
            <a:extLst xmlns:a="http://schemas.openxmlformats.org/drawingml/2006/main">
              <a:ext uri="{FF2B5EF4-FFF2-40B4-BE49-F238E27FC236}">
                <a16:creationId xmlns:a16="http://schemas.microsoft.com/office/drawing/2014/main" id="{635D9B3A-7D0B-4EF0-9298-737F71D35125}"/>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10</a:t>
            </a:r>
          </a:p>
        </p:txBody>
      </p:sp>
    </p:spTree>
    <p:extLst>
      <p:ext uri="{BB962C8B-B14F-4D97-AF65-F5344CB8AC3E}">
        <p14:creationId xmlns:p14="http://schemas.microsoft.com/office/powerpoint/2010/main" val="783431298"/>
      </p:ext>
    </p:extLst>
  </p:cSld>
</p:sld>
</file>

<file path=ppt/slides/slide11.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sp>
        <p:nvSpPr>
          <p:cNvPr id="2" name="El MVP y la siguiente versión">
            <a:extLst xmlns:a="http://schemas.openxmlformats.org/drawingml/2006/main">
              <a:ext uri="{FF2B5EF4-FFF2-40B4-BE49-F238E27FC236}">
                <a16:creationId xmlns:a16="http://schemas.microsoft.com/office/drawing/2014/main" id="{EF94422A-DC14-4176-845A-C1A762C5EEC7}"/>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4200" b="1">
                <a:solidFill>
                  <a:srgbClr val="E8E5DC"/>
                </a:solidFill>
                <a:latin typeface="Arial"/>
                <a:ea typeface="Arial"/>
                <a:cs typeface="Arial"/>
              </a:defRPr>
            </a:pPr>
            <a:r>
              <a:rPr sz="4200" b="1">
                <a:solidFill>
                  <a:srgbClr val="E8E5DC"/>
                </a:solidFill>
                <a:latin typeface="Arial"/>
                <a:ea typeface="Arial"/>
                <a:cs typeface="Arial"/>
              </a:rPr>
              <a:t>El MVP y la siguiente versión</a:t>
            </a:r>
          </a:p>
        </p:txBody>
      </p:sp>
      <p:sp>
        <p:nvSpPr>
          <p:cNvPr id="3" name="Implementado en el código">
            <a:extLst xmlns:a="http://schemas.openxmlformats.org/drawingml/2006/main">
              <a:ext uri="{FF2B5EF4-FFF2-40B4-BE49-F238E27FC236}">
                <a16:creationId xmlns:a16="http://schemas.microsoft.com/office/drawing/2014/main" id="{08AD2DD8-C788-46C2-85CD-F7DD7004C53E}"/>
              </a:ext>
            </a:extLst>
          </p:cNvPr>
          <p:cNvSpPr>
            <a:spLocks xmlns:a="http://schemas.openxmlformats.org/drawingml/2006/main" noGrp="1"/>
          </p:cNvSpPr>
          <p:nvPr/>
        </p:nvSpPr>
        <p:spPr>
          <a:xfrm xmlns:a="http://schemas.openxmlformats.org/drawingml/2006/main">
            <a:off x="704850" y="2400300"/>
            <a:ext cx="528637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00" b="1">
                <a:solidFill>
                  <a:srgbClr val="53BA91"/>
                </a:solidFill>
                <a:latin typeface="Arial"/>
                <a:ea typeface="Arial"/>
                <a:cs typeface="Arial"/>
              </a:defRPr>
            </a:pPr>
            <a:r>
              <a:rPr sz="2400" b="1">
                <a:solidFill>
                  <a:srgbClr val="53BA91"/>
                </a:solidFill>
                <a:latin typeface="Arial"/>
                <a:ea typeface="Arial"/>
                <a:cs typeface="Arial"/>
              </a:rPr>
              <a:t>Implementado en el código</a:t>
            </a:r>
          </a:p>
        </p:txBody>
      </p:sp>
      <p:sp>
        <p:nvSpPr>
          <p:cNvPr id="4" name="Entrada por voz y texto Agente con herramientas Evaluación determinista Historia">
            <a:extLst xmlns:a="http://schemas.openxmlformats.org/drawingml/2006/main">
              <a:ext uri="{FF2B5EF4-FFF2-40B4-BE49-F238E27FC236}">
                <a16:creationId xmlns:a16="http://schemas.microsoft.com/office/drawing/2014/main" id="{EC824027-39ED-4AA7-8DF0-8FFE4EBFB42D}"/>
              </a:ext>
            </a:extLst>
          </p:cNvPr>
          <p:cNvSpPr>
            <a:spLocks xmlns:a="http://schemas.openxmlformats.org/drawingml/2006/main" noGrp="1"/>
          </p:cNvSpPr>
          <p:nvPr/>
        </p:nvSpPr>
        <p:spPr>
          <a:xfrm xmlns:a="http://schemas.openxmlformats.org/drawingml/2006/main">
            <a:off x="704850" y="3276600"/>
            <a:ext cx="5143500" cy="20288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0">
                <a:solidFill>
                  <a:srgbClr val="E8E5DC"/>
                </a:solidFill>
                <a:latin typeface="Arial"/>
                <a:ea typeface="Arial"/>
                <a:cs typeface="Arial"/>
              </a:defRPr>
            </a:pPr>
            <a:r>
              <a:rPr sz="2250" b="0">
                <a:solidFill>
                  <a:srgbClr val="E8E5DC"/>
                </a:solidFill>
                <a:latin typeface="Arial"/>
                <a:ea typeface="Arial"/>
                <a:cs typeface="Arial"/>
              </a:rPr>
              <a:t>Entrada por voz y texto
Agente con herramientas
Evaluación determinista
Historial con evidencia</a:t>
            </a:r>
          </a:p>
        </p:txBody>
      </p:sp>
      <p:sp>
        <p:nvSpPr>
          <p:cNvPr id="5" name="Siguiente versión">
            <a:extLst xmlns:a="http://schemas.openxmlformats.org/drawingml/2006/main">
              <a:ext uri="{FF2B5EF4-FFF2-40B4-BE49-F238E27FC236}">
                <a16:creationId xmlns:a16="http://schemas.microsoft.com/office/drawing/2014/main" id="{D7295A95-335F-4B14-BE4C-31B1FCDEBA58}"/>
              </a:ext>
            </a:extLst>
          </p:cNvPr>
          <p:cNvSpPr>
            <a:spLocks xmlns:a="http://schemas.openxmlformats.org/drawingml/2006/main" noGrp="1"/>
          </p:cNvSpPr>
          <p:nvPr/>
        </p:nvSpPr>
        <p:spPr>
          <a:xfrm xmlns:a="http://schemas.openxmlformats.org/drawingml/2006/main">
            <a:off x="6924675" y="2400300"/>
            <a:ext cx="45529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400" b="1">
                <a:solidFill>
                  <a:srgbClr val="B39A6A"/>
                </a:solidFill>
                <a:latin typeface="Arial"/>
                <a:ea typeface="Arial"/>
                <a:cs typeface="Arial"/>
              </a:defRPr>
            </a:pPr>
            <a:r>
              <a:rPr sz="2400" b="1">
                <a:solidFill>
                  <a:srgbClr val="B39A6A"/>
                </a:solidFill>
                <a:latin typeface="Arial"/>
                <a:ea typeface="Arial"/>
                <a:cs typeface="Arial"/>
              </a:rPr>
              <a:t>Siguiente versión</a:t>
            </a:r>
          </a:p>
        </p:txBody>
      </p:sp>
      <p:sp>
        <p:nvSpPr>
          <p:cNvPr id="6" name="Cuentas y permisos por usuario Entrega externa de notificaciones Validación de c">
            <a:extLst xmlns:a="http://schemas.openxmlformats.org/drawingml/2006/main">
              <a:ext uri="{FF2B5EF4-FFF2-40B4-BE49-F238E27FC236}">
                <a16:creationId xmlns:a16="http://schemas.microsoft.com/office/drawing/2014/main" id="{61706249-69F8-4312-A047-30F7ABE0F673}"/>
              </a:ext>
            </a:extLst>
          </p:cNvPr>
          <p:cNvSpPr>
            <a:spLocks xmlns:a="http://schemas.openxmlformats.org/drawingml/2006/main" noGrp="1"/>
          </p:cNvSpPr>
          <p:nvPr/>
        </p:nvSpPr>
        <p:spPr>
          <a:xfrm xmlns:a="http://schemas.openxmlformats.org/drawingml/2006/main">
            <a:off x="6924675" y="3276600"/>
            <a:ext cx="4552950" cy="2124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0">
                <a:solidFill>
                  <a:srgbClr val="E8E5DC"/>
                </a:solidFill>
                <a:latin typeface="Arial"/>
                <a:ea typeface="Arial"/>
                <a:cs typeface="Arial"/>
              </a:defRPr>
            </a:pPr>
            <a:r>
              <a:rPr sz="2175" b="0">
                <a:solidFill>
                  <a:srgbClr val="E8E5DC"/>
                </a:solidFill>
                <a:latin typeface="Arial"/>
                <a:ea typeface="Arial"/>
                <a:cs typeface="Arial"/>
              </a:rPr>
              <a:t>Cuentas y permisos por usuario
Entrega externa de notificaciones
Validación de costes y latencia
Más modalidades con utilidad</a:t>
            </a:r>
          </a:p>
        </p:txBody>
      </p:sp>
      <p:sp>
        <p:nvSpPr>
          <p:cNvPr id="7" name="Monitorización sin órdenes ni claves de trading">
            <a:extLst xmlns:a="http://schemas.openxmlformats.org/drawingml/2006/main">
              <a:ext uri="{FF2B5EF4-FFF2-40B4-BE49-F238E27FC236}">
                <a16:creationId xmlns:a16="http://schemas.microsoft.com/office/drawing/2014/main" id="{C08A2FCF-B8D8-45A5-82A7-7D61B4708695}"/>
              </a:ext>
            </a:extLst>
          </p:cNvPr>
          <p:cNvSpPr>
            <a:spLocks xmlns:a="http://schemas.openxmlformats.org/drawingml/2006/main" noGrp="1"/>
          </p:cNvSpPr>
          <p:nvPr/>
        </p:nvSpPr>
        <p:spPr>
          <a:xfrm xmlns:a="http://schemas.openxmlformats.org/drawingml/2006/main">
            <a:off x="704850" y="5886450"/>
            <a:ext cx="107823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00" b="0">
                <a:solidFill>
                  <a:srgbClr val="B5B1A8"/>
                </a:solidFill>
                <a:latin typeface="Arial"/>
                <a:ea typeface="Arial"/>
                <a:cs typeface="Arial"/>
              </a:defRPr>
            </a:pPr>
            <a:r>
              <a:rPr sz="2100" b="0">
                <a:solidFill>
                  <a:srgbClr val="B5B1A8"/>
                </a:solidFill>
                <a:latin typeface="Arial"/>
                <a:ea typeface="Arial"/>
                <a:cs typeface="Arial"/>
              </a:rPr>
              <a:t>Monitorización sin órdenes ni claves de trading</a:t>
            </a:r>
          </a:p>
        </p:txBody>
      </p:sp>
      <p:sp>
        <p:nvSpPr>
          <p:cNvPr id="8" name="Número de diapositiva">
            <a:extLst xmlns:a="http://schemas.openxmlformats.org/drawingml/2006/main">
              <a:ext uri="{FF2B5EF4-FFF2-40B4-BE49-F238E27FC236}">
                <a16:creationId xmlns:a16="http://schemas.microsoft.com/office/drawing/2014/main" id="{42D1114E-6209-4A3B-AF50-65B4B38730E0}"/>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11</a:t>
            </a:r>
          </a:p>
        </p:txBody>
      </p:sp>
    </p:spTree>
    <p:extLst>
      <p:ext uri="{BB962C8B-B14F-4D97-AF65-F5344CB8AC3E}">
        <p14:creationId xmlns:p14="http://schemas.microsoft.com/office/powerpoint/2010/main" val="790332361"/>
      </p:ext>
    </p:extLst>
  </p:cSld>
</p:sld>
</file>

<file path=ppt/slides/slide12.xml><?xml version="1.0" encoding="utf-8"?>
<p:sld xmlns:p="http://schemas.openxmlformats.org/presentationml/2006/main" showMasterSp="0">
  <p:cSld>
    <p:bg>
      <p:bgPr>
        <a:solidFill xmlns:a="http://schemas.openxmlformats.org/drawingml/2006/main">
          <a:srgbClr val="181713"/>
        </a:solidFill>
      </p:bgPr>
    </p:bg>
    <p:spTree>
      <p:nvGrpSpPr>
        <p:cNvPr id="1" name=""/>
        <p:cNvGrpSpPr/>
        <p:nvPr/>
      </p:nvGrpSpPr>
      <p:grpSpPr>
        <a:xfrm xmlns:a="http://schemas.openxmlformats.org/drawingml/2006/main"/>
      </p:grpSpPr>
      <p:pic>
        <p:nvPicPr>
          <p:cNvPr id="9" name="liquid-background.png"/>
          <p:cNvPicPr>
            <a:picLocks xmlns:a="http://schemas.openxmlformats.org/drawingml/2006/main" noChangeAspect="1"/>
          </p:cNvPicPr>
          <p:nvPr/>
        </p:nvPicPr>
        <p:blipFill>
          <a:blip xmlns:r="http://schemas.openxmlformats.org/officeDocument/2006/relationships" xmlns:a="http://schemas.openxmlformats.org/drawingml/2006/main" r:embed="Rdc3d3842dc4a4eb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3" name="HYPE RADAR">
            <a:extLst xmlns:a="http://schemas.openxmlformats.org/drawingml/2006/main">
              <a:ext uri="{FF2B5EF4-FFF2-40B4-BE49-F238E27FC236}">
                <a16:creationId xmlns:a16="http://schemas.microsoft.com/office/drawing/2014/main" id="{F0AC433E-C901-430A-A380-7C9AD7F8A125}"/>
              </a:ext>
            </a:extLst>
          </p:cNvPr>
          <p:cNvSpPr>
            <a:spLocks xmlns:a="http://schemas.openxmlformats.org/drawingml/2006/main" noGrp="1"/>
          </p:cNvSpPr>
          <p:nvPr/>
        </p:nvSpPr>
        <p:spPr>
          <a:xfrm xmlns:a="http://schemas.openxmlformats.org/drawingml/2006/main">
            <a:off x="704850" y="1752600"/>
            <a:ext cx="8382000" cy="108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6600" b="1">
                <a:solidFill>
                  <a:srgbClr val="E8E5DC"/>
                </a:solidFill>
                <a:latin typeface="Arial"/>
                <a:ea typeface="Arial"/>
                <a:cs typeface="Arial"/>
              </a:defRPr>
            </a:pPr>
            <a:r>
              <a:rPr sz="6600" b="1">
                <a:solidFill>
                  <a:srgbClr val="E8E5DC"/>
                </a:solidFill>
                <a:latin typeface="Arial"/>
                <a:ea typeface="Arial"/>
                <a:cs typeface="Arial"/>
              </a:rPr>
              <a:t>HYPE RADAR</a:t>
            </a:r>
          </a:p>
        </p:txBody>
      </p:sp>
      <p:sp>
        <p:nvSpPr>
          <p:cNvPr id="4" name="Tu condición de mercado. La evidencia para revisarla.">
            <a:extLst xmlns:a="http://schemas.openxmlformats.org/drawingml/2006/main">
              <a:ext uri="{FF2B5EF4-FFF2-40B4-BE49-F238E27FC236}">
                <a16:creationId xmlns:a16="http://schemas.microsoft.com/office/drawing/2014/main" id="{3F06E6B0-18C7-4417-A6D4-3FC0A0C67ECF}"/>
              </a:ext>
            </a:extLst>
          </p:cNvPr>
          <p:cNvSpPr>
            <a:spLocks xmlns:a="http://schemas.openxmlformats.org/drawingml/2006/main" noGrp="1"/>
          </p:cNvSpPr>
          <p:nvPr/>
        </p:nvSpPr>
        <p:spPr>
          <a:xfrm xmlns:a="http://schemas.openxmlformats.org/drawingml/2006/main">
            <a:off x="742950" y="3143250"/>
            <a:ext cx="7953375" cy="14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3450" b="0">
                <a:solidFill>
                  <a:srgbClr val="E8E5DC"/>
                </a:solidFill>
                <a:latin typeface="Arial"/>
                <a:ea typeface="Arial"/>
                <a:cs typeface="Arial"/>
              </a:defRPr>
            </a:pPr>
            <a:r>
              <a:rPr sz="3450" b="0">
                <a:solidFill>
                  <a:srgbClr val="E8E5DC"/>
                </a:solidFill>
                <a:latin typeface="Arial"/>
                <a:ea typeface="Arial"/>
                <a:cs typeface="Arial"/>
              </a:rPr>
              <a:t>Tu condición de mercado.
La evidencia para revisarla.</a:t>
            </a:r>
          </a:p>
        </p:txBody>
      </p:sp>
      <p:sp>
        <p:nvSpPr>
          <p:cNvPr id="5" name="MVP FinTech multimodal">
            <a:extLst xmlns:a="http://schemas.openxmlformats.org/drawingml/2006/main">
              <a:ext uri="{FF2B5EF4-FFF2-40B4-BE49-F238E27FC236}">
                <a16:creationId xmlns:a16="http://schemas.microsoft.com/office/drawing/2014/main" id="{12C74116-0170-4E3C-A3EE-0F705FC7E794}"/>
              </a:ext>
            </a:extLst>
          </p:cNvPr>
          <p:cNvSpPr>
            <a:spLocks xmlns:a="http://schemas.openxmlformats.org/drawingml/2006/main" noGrp="1"/>
          </p:cNvSpPr>
          <p:nvPr/>
        </p:nvSpPr>
        <p:spPr>
          <a:xfrm xmlns:a="http://schemas.openxmlformats.org/drawingml/2006/main">
            <a:off x="742950" y="5143500"/>
            <a:ext cx="70485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00" b="0">
                <a:solidFill>
                  <a:srgbClr val="B39A6A"/>
                </a:solidFill>
                <a:latin typeface="Arial"/>
                <a:ea typeface="Arial"/>
                <a:cs typeface="Arial"/>
              </a:defRPr>
            </a:pPr>
            <a:r>
              <a:rPr sz="2100" b="0">
                <a:solidFill>
                  <a:srgbClr val="B39A6A"/>
                </a:solidFill>
                <a:latin typeface="Arial"/>
                <a:ea typeface="Arial"/>
                <a:cs typeface="Arial"/>
              </a:rPr>
              <a:t>Javier Chulvi · Hugo Vinuesa · Higinio Paterna</a:t>
            </a:r>
          </a:p>
        </p:txBody>
      </p:sp>
      <p:sp>
        <p:nvSpPr>
          <p:cNvPr id="6" name="github.com/JaviChulvi/hype-radar">
            <a:extLst xmlns:a="http://schemas.openxmlformats.org/drawingml/2006/main">
              <a:ext uri="{FF2B5EF4-FFF2-40B4-BE49-F238E27FC236}">
                <a16:creationId xmlns:a16="http://schemas.microsoft.com/office/drawing/2014/main" id="{EA095DDC-71E7-4C9D-A83E-16D6E947F135}"/>
              </a:ext>
            </a:extLst>
          </p:cNvPr>
          <p:cNvSpPr>
            <a:spLocks xmlns:a="http://schemas.openxmlformats.org/drawingml/2006/main" noGrp="1"/>
          </p:cNvSpPr>
          <p:nvPr/>
        </p:nvSpPr>
        <p:spPr>
          <a:xfrm xmlns:a="http://schemas.openxmlformats.org/drawingml/2006/main">
            <a:off x="742950" y="5791200"/>
            <a:ext cx="7143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B5B1A8"/>
                </a:solidFill>
                <a:latin typeface="Arial"/>
                <a:ea typeface="Arial"/>
                <a:cs typeface="Arial"/>
              </a:defRPr>
            </a:pPr>
            <a:r>
              <a:rPr sz="1875" b="0">
                <a:solidFill>
                  <a:srgbClr val="B5B1A8"/>
                </a:solidFill>
                <a:latin typeface="Arial"/>
                <a:ea typeface="Arial"/>
                <a:cs typeface="Arial"/>
                <a:hlinkClick xmlns:r="http://schemas.openxmlformats.org/officeDocument/2006/relationships" r:id="R56bddfcc0613437d"/>
              </a:rPr>
              <a:t>github.com/JaviChulvi/hype-radar</a:t>
            </a:r>
          </a:p>
        </p:txBody>
      </p:sp>
      <p:sp>
        <p:nvSpPr>
          <p:cNvPr id="7" name="Número de diapositiva">
            <a:extLst xmlns:a="http://schemas.openxmlformats.org/drawingml/2006/main">
              <a:ext uri="{FF2B5EF4-FFF2-40B4-BE49-F238E27FC236}">
                <a16:creationId xmlns:a16="http://schemas.microsoft.com/office/drawing/2014/main" id="{2C242ADE-1E2F-491B-995F-9261159BC1E3}"/>
              </a:ext>
            </a:extLst>
          </p:cNvPr>
          <p:cNvSpPr>
            <a:spLocks xmlns:a="http://schemas.openxmlformats.org/drawingml/2006/main" noGrp="1"/>
          </p:cNvSpPr>
          <p:nvPr/>
        </p:nvSpPr>
        <p:spPr>
          <a:xfrm xmlns:a="http://schemas.openxmlformats.org/drawingml/2006/main">
            <a:off x="11334750" y="6486525"/>
            <a:ext cx="285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spcBef>
                <a:spcPts val="0"/>
              </a:spcBef>
              <a:spcAft>
                <a:spcPts val="0"/>
              </a:spcAft>
              <a:buNone/>
              <a:defRPr sz="1275" b="0">
                <a:solidFill>
                  <a:srgbClr val="B39A6A"/>
                </a:solidFill>
                <a:latin typeface="Arial"/>
                <a:ea typeface="Arial"/>
                <a:cs typeface="Arial"/>
              </a:defRPr>
            </a:pPr>
            <a:r>
              <a:rPr sz="1275" b="0">
                <a:solidFill>
                  <a:srgbClr val="B39A6A"/>
                </a:solidFill>
                <a:latin typeface="Arial"/>
                <a:ea typeface="Arial"/>
                <a:cs typeface="Arial"/>
              </a:rPr>
              <a:t>12</a:t>
            </a:r>
          </a:p>
        </p:txBody>
      </p:sp>
    </p:spTree>
    <p:extLst>
      <p:ext uri="{BB962C8B-B14F-4D97-AF65-F5344CB8AC3E}">
        <p14:creationId xmlns:p14="http://schemas.microsoft.com/office/powerpoint/2010/main" val="349024491"/>
      </p:ext>
    </p:extLst>
  </p:cSld>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B39A6A"/>
      </a:hlink>
      <a:folHlink>
        <a:srgbClr val="B39A6A"/>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2026-10-07T18:02:06.9370000Z</dcterms:created>
  <dcterms:modified xsi:type="dcterms:W3CDTF">2026-10-07T18:02:06.9370000Z</dcterms:modified>
</coreProperties>
</file>